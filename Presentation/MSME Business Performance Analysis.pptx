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75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1483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MSME dashboard: revenue, profit, growth and government scheme outcomes across 300 registered businesses. All rupee figures are converted from lakh to crore (100 lakh = 1 crore).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in 30 seconds: what question I wanted to answer, what data I had, and what I built.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Be ready to explain how each measure is defined and why you chose it. Revenue and profit are stored in lakh INR and shown in crore in the dashboard.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across all 300 businesses. Profit margin is total profit divided by total revenue. Revenue 1,84,245 lakh and profit 51,270 lakh converted to crore.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Handicrafts leads at ₹322 Cr, followed by Logistics (₹276 Cr) and Food Processing (₹273 Cr). Together they account for 871 of 1,842 Cr. Retail is smallest at ₹127 Cr.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Textiles has the highest margin (34.5%) but the lowest growth among the big contributors (9.4%). Logistics has the highest average growth (13.5%). Sorted by margin.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Manipur (₹264 Cr), Karnataka (₹261 Cr) and Assam (₹229 Cr) lead. Uttar Pradesh is smallest at ₹101 Cr but is the fastest growing state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Uttar Pradesh (20.9%) and Gujarat (16.3%) grow fastest. Odisha is the slowest at 6.1% despite a healthy 29.4% margin. West Bengal has the lowest margin at 23.8%.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Access (61%) and Export Assistance (60%) have the best approval rates. Technology Upgrade (45%) and Skill Development (46%) are lowest, with Technology Upgrade also having the most rejections (11). Counts are numbers of applications.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third of applications are still undecided, which is the biggest opportunity. Approval rate = approved ÷ all applications (159 of 300).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four insights. The 69 shrinking businesses are those with negative YoY growth in the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suggestions from the data, not facts from the dataset. Be ready to say how you would measure success for each.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Likely ones: how measures were defined, data quality, why these charts, what you would do with more data.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4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4441"/>
            <a:ext cx="10566400" cy="417075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4441"/>
            <a:ext cx="10566400" cy="417075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12800" y="2189460"/>
            <a:ext cx="762000" cy="50800"/>
          </a:xfrm>
          <a:prstGeom prst="rect">
            <a:avLst/>
          </a:prstGeom>
          <a:solidFill>
            <a:srgbClr val="E9A23B"/>
          </a:solidFill>
          <a:ln/>
        </p:spPr>
        <p:txBody>
          <a:bodyPr/>
          <a:lstStyle/>
          <a:p>
            <a:endParaRPr lang="en-IN"/>
          </a:p>
        </p:txBody>
      </p:sp>
      <p:sp>
        <p:nvSpPr>
          <p:cNvPr id="3" name="Text 1"/>
          <p:cNvSpPr>
            <a:spLocks noGrp="1"/>
          </p:cNvSpPr>
          <p:nvPr>
            <p:ph type="title"/>
          </p:nvPr>
        </p:nvSpPr>
        <p:spPr>
          <a:xfrm>
            <a:off x="812800" y="249426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4EC"/>
                </a:solidFill>
                <a:latin typeface="Arial" pitchFamily="34" charset="0"/>
                <a:ea typeface="Arial" pitchFamily="34" charset="-122"/>
                <a:cs typeface="Arial" pitchFamily="34" charset="-120"/>
              </a:rPr>
              <a:t>MSME Business Performance Analysis</a:t>
            </a:r>
            <a:endParaRPr lang="en-US" sz="6000" dirty="0"/>
          </a:p>
        </p:txBody>
      </p:sp>
      <p:sp>
        <p:nvSpPr>
          <p:cNvPr id="4" name="Text 2"/>
          <p:cNvSpPr/>
          <p:nvPr/>
        </p:nvSpPr>
        <p:spPr>
          <a:xfrm>
            <a:off x="812800" y="434846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1E0"/>
                </a:solidFill>
                <a:latin typeface="Arial" pitchFamily="34" charset="0"/>
                <a:ea typeface="Arial" pitchFamily="34" charset="-122"/>
                <a:cs typeface="Arial" pitchFamily="34" charset="-120"/>
              </a:rPr>
              <a:t>Excel and Power </a:t>
            </a:r>
            <a:r>
              <a:rPr lang="en-US" sz="1800">
                <a:solidFill>
                  <a:srgbClr val="C9D1E0"/>
                </a:solidFill>
                <a:latin typeface="Arial" pitchFamily="34" charset="0"/>
                <a:ea typeface="Arial" pitchFamily="34" charset="-122"/>
                <a:cs typeface="Arial" pitchFamily="34" charset="-120"/>
              </a:rPr>
              <a:t>BI project.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7A"/>
                </a:solidFill>
                <a:latin typeface="Arial" pitchFamily="34" charset="0"/>
                <a:ea typeface="Arial" pitchFamily="34" charset="-122"/>
                <a:cs typeface="Arial" pitchFamily="34" charset="-120"/>
              </a:rPr>
              <a:t>PROJECT OVERVIEW</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Arial" pitchFamily="34" charset="0"/>
                <a:ea typeface="Arial" pitchFamily="34" charset="-122"/>
                <a:cs typeface="Arial" pitchFamily="34" charset="-120"/>
              </a:rPr>
              <a:t>Objective, data and output</a:t>
            </a:r>
            <a:endParaRPr lang="en-US" sz="3200" dirty="0"/>
          </a:p>
        </p:txBody>
      </p:sp>
      <p:sp>
        <p:nvSpPr>
          <p:cNvPr id="4" name="Shape 2"/>
          <p:cNvSpPr/>
          <p:nvPr/>
        </p:nvSpPr>
        <p:spPr>
          <a:xfrm>
            <a:off x="815975" y="1928416"/>
            <a:ext cx="3384550" cy="2251571"/>
          </a:xfrm>
          <a:prstGeom prst="roundRect">
            <a:avLst>
              <a:gd name="adj" fmla="val 4371"/>
            </a:avLst>
          </a:prstGeom>
          <a:solidFill>
            <a:srgbClr val="FFFFFF"/>
          </a:solidFill>
          <a:ln w="6350">
            <a:solidFill>
              <a:srgbClr val="E3DED2"/>
            </a:solidFill>
            <a:prstDash val="solid"/>
          </a:ln>
        </p:spPr>
        <p:txBody>
          <a:bodyPr/>
          <a:lstStyle/>
          <a:p>
            <a:endParaRPr lang="en-IN"/>
          </a:p>
        </p:txBody>
      </p:sp>
      <p:sp>
        <p:nvSpPr>
          <p:cNvPr id="5" name="Text 3"/>
          <p:cNvSpPr/>
          <p:nvPr/>
        </p:nvSpPr>
        <p:spPr>
          <a:xfrm>
            <a:off x="1073150" y="2185591"/>
            <a:ext cx="295630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7A"/>
                </a:solidFill>
                <a:latin typeface="Arial" pitchFamily="34" charset="0"/>
                <a:ea typeface="Arial" pitchFamily="34" charset="-122"/>
                <a:cs typeface="Arial" pitchFamily="34" charset="-120"/>
              </a:rPr>
              <a:t>OBJECTIVE</a:t>
            </a:r>
            <a:endParaRPr lang="en-US" sz="1200" dirty="0"/>
          </a:p>
        </p:txBody>
      </p:sp>
      <p:sp>
        <p:nvSpPr>
          <p:cNvPr id="6" name="Text 4"/>
          <p:cNvSpPr/>
          <p:nvPr/>
        </p:nvSpPr>
        <p:spPr>
          <a:xfrm>
            <a:off x="1073150" y="2500511"/>
            <a:ext cx="2956306" cy="144770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Arial" pitchFamily="34" charset="0"/>
                <a:ea typeface="Arial" pitchFamily="34" charset="-122"/>
                <a:cs typeface="Arial" pitchFamily="34" charset="-120"/>
              </a:rPr>
              <a:t>Understand how MSMEs perform across industries and states, and whether government schemes reach them.</a:t>
            </a:r>
            <a:endParaRPr lang="en-US" sz="1600" dirty="0"/>
          </a:p>
        </p:txBody>
      </p:sp>
      <p:sp>
        <p:nvSpPr>
          <p:cNvPr id="7" name="Shape 5"/>
          <p:cNvSpPr/>
          <p:nvPr/>
        </p:nvSpPr>
        <p:spPr>
          <a:xfrm>
            <a:off x="4410075" y="1928416"/>
            <a:ext cx="3384550" cy="2251571"/>
          </a:xfrm>
          <a:prstGeom prst="roundRect">
            <a:avLst>
              <a:gd name="adj" fmla="val 4371"/>
            </a:avLst>
          </a:prstGeom>
          <a:solidFill>
            <a:srgbClr val="FFFFFF"/>
          </a:solidFill>
          <a:ln w="6350">
            <a:solidFill>
              <a:srgbClr val="E3DED2"/>
            </a:solidFill>
            <a:prstDash val="solid"/>
          </a:ln>
        </p:spPr>
        <p:txBody>
          <a:bodyPr/>
          <a:lstStyle/>
          <a:p>
            <a:endParaRPr lang="en-IN"/>
          </a:p>
        </p:txBody>
      </p:sp>
      <p:sp>
        <p:nvSpPr>
          <p:cNvPr id="8" name="Text 6"/>
          <p:cNvSpPr/>
          <p:nvPr/>
        </p:nvSpPr>
        <p:spPr>
          <a:xfrm>
            <a:off x="4667250" y="2185591"/>
            <a:ext cx="295630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7A"/>
                </a:solidFill>
                <a:latin typeface="Arial" pitchFamily="34" charset="0"/>
                <a:ea typeface="Arial" pitchFamily="34" charset="-122"/>
                <a:cs typeface="Arial" pitchFamily="34" charset="-120"/>
              </a:rPr>
              <a:t>DATA</a:t>
            </a:r>
            <a:endParaRPr lang="en-US" sz="1200" dirty="0"/>
          </a:p>
        </p:txBody>
      </p:sp>
      <p:sp>
        <p:nvSpPr>
          <p:cNvPr id="9" name="Text 7"/>
          <p:cNvSpPr/>
          <p:nvPr/>
        </p:nvSpPr>
        <p:spPr>
          <a:xfrm>
            <a:off x="4667250" y="2500511"/>
            <a:ext cx="2956306"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Arial" pitchFamily="34" charset="0"/>
                <a:ea typeface="Arial" pitchFamily="34" charset="-122"/>
                <a:cs typeface="Arial" pitchFamily="34" charset="-120"/>
              </a:rPr>
              <a:t>300 businesses, 8 industries, 10 states and 31 cities. Registrations run from Jan 2025 to Oct 2026.</a:t>
            </a:r>
            <a:endParaRPr lang="en-US" sz="1600" dirty="0"/>
          </a:p>
        </p:txBody>
      </p:sp>
      <p:sp>
        <p:nvSpPr>
          <p:cNvPr id="10" name="Shape 8"/>
          <p:cNvSpPr/>
          <p:nvPr/>
        </p:nvSpPr>
        <p:spPr>
          <a:xfrm>
            <a:off x="8001000" y="1925241"/>
            <a:ext cx="3378200" cy="2257921"/>
          </a:xfrm>
          <a:prstGeom prst="roundRect">
            <a:avLst>
              <a:gd name="adj" fmla="val 4500"/>
            </a:avLst>
          </a:prstGeom>
          <a:solidFill>
            <a:srgbClr val="14213D"/>
          </a:solidFill>
          <a:ln/>
        </p:spPr>
        <p:txBody>
          <a:bodyPr/>
          <a:lstStyle/>
          <a:p>
            <a:endParaRPr lang="en-IN"/>
          </a:p>
        </p:txBody>
      </p:sp>
      <p:sp>
        <p:nvSpPr>
          <p:cNvPr id="11" name="Text 9"/>
          <p:cNvSpPr/>
          <p:nvPr/>
        </p:nvSpPr>
        <p:spPr>
          <a:xfrm>
            <a:off x="8255000" y="2179241"/>
            <a:ext cx="295630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9A23B"/>
                </a:solidFill>
                <a:latin typeface="Arial" pitchFamily="34" charset="0"/>
                <a:ea typeface="Arial" pitchFamily="34" charset="-122"/>
                <a:cs typeface="Arial" pitchFamily="34" charset="-120"/>
              </a:rPr>
              <a:t>OUTPUT</a:t>
            </a:r>
            <a:endParaRPr lang="en-US" sz="1200" dirty="0"/>
          </a:p>
        </p:txBody>
      </p:sp>
      <p:sp>
        <p:nvSpPr>
          <p:cNvPr id="12" name="Text 10"/>
          <p:cNvSpPr/>
          <p:nvPr/>
        </p:nvSpPr>
        <p:spPr>
          <a:xfrm>
            <a:off x="8255000" y="2494161"/>
            <a:ext cx="2956306"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4EC"/>
                </a:solidFill>
                <a:latin typeface="Arial" pitchFamily="34" charset="0"/>
                <a:ea typeface="Arial" pitchFamily="34" charset="-122"/>
                <a:cs typeface="Arial" pitchFamily="34" charset="-120"/>
              </a:rPr>
              <a:t>An Excel pivot analysis and an interactive Power BI dashboard with filters by state, city, industry and scheme.</a:t>
            </a:r>
            <a:endParaRPr lang="en-US" sz="1600" dirty="0"/>
          </a:p>
        </p:txBody>
      </p:sp>
      <p:sp>
        <p:nvSpPr>
          <p:cNvPr id="13" name="Text 11"/>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Arial" pitchFamily="34" charset="0"/>
                <a:ea typeface="Arial" pitchFamily="34" charset="-122"/>
                <a:cs typeface="Arial" pitchFamily="34" charset="-120"/>
              </a:rPr>
              <a:t>Source: MSME Business Performance Analysis workbook and dashboard</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7A"/>
                </a:solidFill>
                <a:latin typeface="Arial" pitchFamily="34" charset="0"/>
                <a:ea typeface="Arial" pitchFamily="34" charset="-122"/>
                <a:cs typeface="Arial" pitchFamily="34" charset="-120"/>
              </a:rPr>
              <a:t>APPROACH</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Arial" pitchFamily="34" charset="0"/>
                <a:ea typeface="Arial" pitchFamily="34" charset="-122"/>
                <a:cs typeface="Arial" pitchFamily="34" charset="-120"/>
              </a:rPr>
              <a:t>From raw data to dashboard</a:t>
            </a:r>
            <a:endParaRPr lang="en-US" sz="3200" dirty="0"/>
          </a:p>
        </p:txBody>
      </p:sp>
      <p:sp>
        <p:nvSpPr>
          <p:cNvPr id="4" name="Shape 2"/>
          <p:cNvSpPr/>
          <p:nvPr/>
        </p:nvSpPr>
        <p:spPr>
          <a:xfrm>
            <a:off x="815975" y="1928416"/>
            <a:ext cx="2524125" cy="2906415"/>
          </a:xfrm>
          <a:prstGeom prst="roundRect">
            <a:avLst>
              <a:gd name="adj" fmla="val 3899"/>
            </a:avLst>
          </a:prstGeom>
          <a:solidFill>
            <a:srgbClr val="FFFFFF"/>
          </a:solidFill>
          <a:ln w="6350">
            <a:solidFill>
              <a:srgbClr val="E3DED2"/>
            </a:solidFill>
            <a:prstDash val="solid"/>
          </a:ln>
        </p:spPr>
        <p:txBody>
          <a:bodyPr/>
          <a:lstStyle/>
          <a:p>
            <a:endParaRPr lang="en-IN"/>
          </a:p>
        </p:txBody>
      </p:sp>
      <p:sp>
        <p:nvSpPr>
          <p:cNvPr id="5" name="Text 3"/>
          <p:cNvSpPr/>
          <p:nvPr/>
        </p:nvSpPr>
        <p:spPr>
          <a:xfrm>
            <a:off x="1047750" y="2160191"/>
            <a:ext cx="2122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E9A23B"/>
                </a:solidFill>
                <a:latin typeface="Arial" pitchFamily="34" charset="0"/>
                <a:ea typeface="Arial" pitchFamily="34" charset="-122"/>
                <a:cs typeface="Arial" pitchFamily="34" charset="-120"/>
              </a:rPr>
              <a:t>1</a:t>
            </a:r>
            <a:endParaRPr lang="en-US" sz="3600" dirty="0"/>
          </a:p>
        </p:txBody>
      </p:sp>
      <p:sp>
        <p:nvSpPr>
          <p:cNvPr id="6" name="Text 4"/>
          <p:cNvSpPr/>
          <p:nvPr/>
        </p:nvSpPr>
        <p:spPr>
          <a:xfrm>
            <a:off x="1047750" y="2764631"/>
            <a:ext cx="212239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Prepare</a:t>
            </a:r>
            <a:endParaRPr lang="en-US" sz="1600" dirty="0"/>
          </a:p>
        </p:txBody>
      </p:sp>
      <p:sp>
        <p:nvSpPr>
          <p:cNvPr id="7" name="Text 5"/>
          <p:cNvSpPr/>
          <p:nvPr/>
        </p:nvSpPr>
        <p:spPr>
          <a:xfrm>
            <a:off x="1047750" y="3110012"/>
            <a:ext cx="2122392" cy="151844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Reviewed 12 fields per business: location, industry, employees, revenue, cost, profit, growth and scheme status.</a:t>
            </a:r>
            <a:endParaRPr lang="en-US" sz="1400" dirty="0"/>
          </a:p>
        </p:txBody>
      </p:sp>
      <p:sp>
        <p:nvSpPr>
          <p:cNvPr id="8" name="Shape 6"/>
          <p:cNvSpPr/>
          <p:nvPr/>
        </p:nvSpPr>
        <p:spPr>
          <a:xfrm>
            <a:off x="3498850" y="1928416"/>
            <a:ext cx="2524125" cy="2906415"/>
          </a:xfrm>
          <a:prstGeom prst="roundRect">
            <a:avLst>
              <a:gd name="adj" fmla="val 3899"/>
            </a:avLst>
          </a:prstGeom>
          <a:solidFill>
            <a:srgbClr val="FFFFFF"/>
          </a:solidFill>
          <a:ln w="6350">
            <a:solidFill>
              <a:srgbClr val="E3DED2"/>
            </a:solidFill>
            <a:prstDash val="solid"/>
          </a:ln>
        </p:spPr>
        <p:txBody>
          <a:bodyPr/>
          <a:lstStyle/>
          <a:p>
            <a:endParaRPr lang="en-IN"/>
          </a:p>
        </p:txBody>
      </p:sp>
      <p:sp>
        <p:nvSpPr>
          <p:cNvPr id="9" name="Text 7"/>
          <p:cNvSpPr/>
          <p:nvPr/>
        </p:nvSpPr>
        <p:spPr>
          <a:xfrm>
            <a:off x="3730625" y="2160191"/>
            <a:ext cx="2122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E9A23B"/>
                </a:solidFill>
                <a:latin typeface="Arial" pitchFamily="34" charset="0"/>
                <a:ea typeface="Arial" pitchFamily="34" charset="-122"/>
                <a:cs typeface="Arial" pitchFamily="34" charset="-120"/>
              </a:rPr>
              <a:t>2</a:t>
            </a:r>
            <a:endParaRPr lang="en-US" sz="3600" dirty="0"/>
          </a:p>
        </p:txBody>
      </p:sp>
      <p:sp>
        <p:nvSpPr>
          <p:cNvPr id="10" name="Text 8"/>
          <p:cNvSpPr/>
          <p:nvPr/>
        </p:nvSpPr>
        <p:spPr>
          <a:xfrm>
            <a:off x="3730625" y="2764631"/>
            <a:ext cx="212239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Analyse</a:t>
            </a:r>
            <a:endParaRPr lang="en-US" sz="1600" dirty="0"/>
          </a:p>
        </p:txBody>
      </p:sp>
      <p:sp>
        <p:nvSpPr>
          <p:cNvPr id="11" name="Text 9"/>
          <p:cNvSpPr/>
          <p:nvPr/>
        </p:nvSpPr>
        <p:spPr>
          <a:xfrm>
            <a:off x="3730625" y="3110012"/>
            <a:ext cx="2122392" cy="102076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Built Excel pivot tables for KPIs, revenue by industry and state, and scheme status.</a:t>
            </a:r>
            <a:endParaRPr lang="en-US" sz="1400" dirty="0"/>
          </a:p>
        </p:txBody>
      </p:sp>
      <p:sp>
        <p:nvSpPr>
          <p:cNvPr id="12" name="Shape 10"/>
          <p:cNvSpPr/>
          <p:nvPr/>
        </p:nvSpPr>
        <p:spPr>
          <a:xfrm>
            <a:off x="6181725" y="1928416"/>
            <a:ext cx="2524125" cy="2906415"/>
          </a:xfrm>
          <a:prstGeom prst="roundRect">
            <a:avLst>
              <a:gd name="adj" fmla="val 3899"/>
            </a:avLst>
          </a:prstGeom>
          <a:solidFill>
            <a:srgbClr val="FFFFFF"/>
          </a:solidFill>
          <a:ln w="6350">
            <a:solidFill>
              <a:srgbClr val="E3DED2"/>
            </a:solidFill>
            <a:prstDash val="solid"/>
          </a:ln>
        </p:spPr>
        <p:txBody>
          <a:bodyPr/>
          <a:lstStyle/>
          <a:p>
            <a:endParaRPr lang="en-IN"/>
          </a:p>
        </p:txBody>
      </p:sp>
      <p:sp>
        <p:nvSpPr>
          <p:cNvPr id="13" name="Text 11"/>
          <p:cNvSpPr/>
          <p:nvPr/>
        </p:nvSpPr>
        <p:spPr>
          <a:xfrm>
            <a:off x="6413500" y="2160191"/>
            <a:ext cx="2122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E9A23B"/>
                </a:solidFill>
                <a:latin typeface="Arial" pitchFamily="34" charset="0"/>
                <a:ea typeface="Arial" pitchFamily="34" charset="-122"/>
                <a:cs typeface="Arial" pitchFamily="34" charset="-120"/>
              </a:rPr>
              <a:t>3</a:t>
            </a:r>
            <a:endParaRPr lang="en-US" sz="3600" dirty="0"/>
          </a:p>
        </p:txBody>
      </p:sp>
      <p:sp>
        <p:nvSpPr>
          <p:cNvPr id="14" name="Text 12"/>
          <p:cNvSpPr/>
          <p:nvPr/>
        </p:nvSpPr>
        <p:spPr>
          <a:xfrm>
            <a:off x="6413500" y="2764631"/>
            <a:ext cx="212239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Model</a:t>
            </a:r>
            <a:endParaRPr lang="en-US" sz="1600" dirty="0"/>
          </a:p>
        </p:txBody>
      </p:sp>
      <p:sp>
        <p:nvSpPr>
          <p:cNvPr id="15" name="Text 13"/>
          <p:cNvSpPr/>
          <p:nvPr/>
        </p:nvSpPr>
        <p:spPr>
          <a:xfrm>
            <a:off x="6413500" y="3110012"/>
            <a:ext cx="2122392" cy="151844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Wrote Power BI measures: Profit Margin %, Approval Rate %, Average Growth %, Undecided Applications and At-Risk Businesses.</a:t>
            </a:r>
            <a:endParaRPr lang="en-US" sz="1400" dirty="0"/>
          </a:p>
        </p:txBody>
      </p:sp>
      <p:sp>
        <p:nvSpPr>
          <p:cNvPr id="16" name="Shape 14"/>
          <p:cNvSpPr/>
          <p:nvPr/>
        </p:nvSpPr>
        <p:spPr>
          <a:xfrm>
            <a:off x="8861425" y="1925241"/>
            <a:ext cx="2517775" cy="2912765"/>
          </a:xfrm>
          <a:prstGeom prst="roundRect">
            <a:avLst>
              <a:gd name="adj" fmla="val 4035"/>
            </a:avLst>
          </a:prstGeom>
          <a:solidFill>
            <a:srgbClr val="14213D"/>
          </a:solidFill>
          <a:ln/>
        </p:spPr>
        <p:txBody>
          <a:bodyPr/>
          <a:lstStyle/>
          <a:p>
            <a:endParaRPr lang="en-IN"/>
          </a:p>
        </p:txBody>
      </p:sp>
      <p:sp>
        <p:nvSpPr>
          <p:cNvPr id="17" name="Text 15"/>
          <p:cNvSpPr/>
          <p:nvPr/>
        </p:nvSpPr>
        <p:spPr>
          <a:xfrm>
            <a:off x="9090025" y="2153841"/>
            <a:ext cx="2122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E9A23B"/>
                </a:solidFill>
                <a:latin typeface="Arial" pitchFamily="34" charset="0"/>
                <a:ea typeface="Arial" pitchFamily="34" charset="-122"/>
                <a:cs typeface="Arial" pitchFamily="34" charset="-120"/>
              </a:rPr>
              <a:t>4</a:t>
            </a:r>
            <a:endParaRPr lang="en-US" sz="3600" dirty="0"/>
          </a:p>
        </p:txBody>
      </p:sp>
      <p:sp>
        <p:nvSpPr>
          <p:cNvPr id="18" name="Text 16"/>
          <p:cNvSpPr/>
          <p:nvPr/>
        </p:nvSpPr>
        <p:spPr>
          <a:xfrm>
            <a:off x="9090025" y="2758281"/>
            <a:ext cx="212239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4EC"/>
                </a:solidFill>
                <a:latin typeface="Arial" pitchFamily="34" charset="0"/>
                <a:ea typeface="Arial" pitchFamily="34" charset="-122"/>
                <a:cs typeface="Arial" pitchFamily="34" charset="-120"/>
              </a:rPr>
              <a:t>Visualise</a:t>
            </a:r>
            <a:endParaRPr lang="en-US" sz="1600" dirty="0"/>
          </a:p>
        </p:txBody>
      </p:sp>
      <p:sp>
        <p:nvSpPr>
          <p:cNvPr id="19" name="Text 17"/>
          <p:cNvSpPr/>
          <p:nvPr/>
        </p:nvSpPr>
        <p:spPr>
          <a:xfrm>
            <a:off x="9090025" y="3103662"/>
            <a:ext cx="212239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4EC"/>
                </a:solidFill>
                <a:latin typeface="Arial" pitchFamily="34" charset="0"/>
                <a:ea typeface="Arial" pitchFamily="34" charset="-122"/>
                <a:cs typeface="Arial" pitchFamily="34" charset="-120"/>
              </a:rPr>
              <a:t>One dashboard page with KPI cards, charts, a trend line and slicers.</a:t>
            </a:r>
            <a:endParaRPr lang="en-US" sz="1400" dirty="0"/>
          </a:p>
        </p:txBody>
      </p:sp>
      <p:sp>
        <p:nvSpPr>
          <p:cNvPr id="20" name="Text 18"/>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Arial" pitchFamily="34" charset="0"/>
                <a:ea typeface="Arial" pitchFamily="34" charset="-122"/>
                <a:cs typeface="Arial" pitchFamily="34" charset="-120"/>
              </a:rPr>
              <a:t>Source: MSME Business Performance Analysis dashboard</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7A"/>
                </a:solidFill>
                <a:latin typeface="Arial" pitchFamily="34" charset="0"/>
                <a:ea typeface="Arial" pitchFamily="34" charset="-122"/>
                <a:cs typeface="Arial" pitchFamily="34" charset="-120"/>
              </a:rPr>
              <a:t>PORTFOLIO SNAPSHOT</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Arial" pitchFamily="34" charset="0"/>
                <a:ea typeface="Arial" pitchFamily="34" charset="-122"/>
                <a:cs typeface="Arial" pitchFamily="34" charset="-120"/>
              </a:rPr>
              <a:t>Key performance indicators</a:t>
            </a:r>
            <a:endParaRPr lang="en-US" sz="3200" dirty="0"/>
          </a:p>
        </p:txBody>
      </p:sp>
      <p:sp>
        <p:nvSpPr>
          <p:cNvPr id="4" name="Shape 2"/>
          <p:cNvSpPr/>
          <p:nvPr/>
        </p:nvSpPr>
        <p:spPr>
          <a:xfrm>
            <a:off x="815975" y="1928416"/>
            <a:ext cx="3380284" cy="1352451"/>
          </a:xfrm>
          <a:prstGeom prst="roundRect">
            <a:avLst>
              <a:gd name="adj" fmla="val 7278"/>
            </a:avLst>
          </a:prstGeom>
          <a:solidFill>
            <a:srgbClr val="FFFFFF"/>
          </a:solidFill>
          <a:ln w="6350">
            <a:solidFill>
              <a:srgbClr val="E3DED2"/>
            </a:solidFill>
            <a:prstDash val="solid"/>
          </a:ln>
        </p:spPr>
        <p:txBody>
          <a:bodyPr/>
          <a:lstStyle/>
          <a:p>
            <a:endParaRPr lang="en-IN"/>
          </a:p>
        </p:txBody>
      </p:sp>
      <p:sp>
        <p:nvSpPr>
          <p:cNvPr id="5" name="Text 3"/>
          <p:cNvSpPr/>
          <p:nvPr/>
        </p:nvSpPr>
        <p:spPr>
          <a:xfrm>
            <a:off x="1073150" y="2185591"/>
            <a:ext cx="295191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213D"/>
                </a:solidFill>
                <a:latin typeface="Arial" pitchFamily="34" charset="0"/>
                <a:ea typeface="Arial" pitchFamily="34" charset="-122"/>
                <a:cs typeface="Arial" pitchFamily="34" charset="-120"/>
              </a:rPr>
              <a:t>₹1,842 Cr</a:t>
            </a:r>
            <a:endParaRPr lang="en-US" sz="3600" dirty="0"/>
          </a:p>
        </p:txBody>
      </p:sp>
      <p:sp>
        <p:nvSpPr>
          <p:cNvPr id="6" name="Text 4"/>
          <p:cNvSpPr/>
          <p:nvPr/>
        </p:nvSpPr>
        <p:spPr>
          <a:xfrm>
            <a:off x="1073150" y="2739231"/>
            <a:ext cx="2951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Arial" pitchFamily="34" charset="0"/>
                <a:ea typeface="Arial" pitchFamily="34" charset="-122"/>
                <a:cs typeface="Arial" pitchFamily="34" charset="-120"/>
              </a:rPr>
              <a:t>Total annual revenue</a:t>
            </a:r>
            <a:endParaRPr lang="en-US" sz="1600" dirty="0"/>
          </a:p>
        </p:txBody>
      </p:sp>
      <p:sp>
        <p:nvSpPr>
          <p:cNvPr id="7" name="Shape 5"/>
          <p:cNvSpPr/>
          <p:nvPr/>
        </p:nvSpPr>
        <p:spPr>
          <a:xfrm>
            <a:off x="4405809" y="1928416"/>
            <a:ext cx="3380284" cy="1352451"/>
          </a:xfrm>
          <a:prstGeom prst="roundRect">
            <a:avLst>
              <a:gd name="adj" fmla="val 7278"/>
            </a:avLst>
          </a:prstGeom>
          <a:solidFill>
            <a:srgbClr val="FFFFFF"/>
          </a:solidFill>
          <a:ln w="6350">
            <a:solidFill>
              <a:srgbClr val="E3DED2"/>
            </a:solidFill>
            <a:prstDash val="solid"/>
          </a:ln>
        </p:spPr>
        <p:txBody>
          <a:bodyPr/>
          <a:lstStyle/>
          <a:p>
            <a:endParaRPr lang="en-IN"/>
          </a:p>
        </p:txBody>
      </p:sp>
      <p:sp>
        <p:nvSpPr>
          <p:cNvPr id="8" name="Text 6"/>
          <p:cNvSpPr/>
          <p:nvPr/>
        </p:nvSpPr>
        <p:spPr>
          <a:xfrm>
            <a:off x="4662984" y="2185591"/>
            <a:ext cx="295191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213D"/>
                </a:solidFill>
                <a:latin typeface="Arial" pitchFamily="34" charset="0"/>
                <a:ea typeface="Arial" pitchFamily="34" charset="-122"/>
                <a:cs typeface="Arial" pitchFamily="34" charset="-120"/>
              </a:rPr>
              <a:t>₹513 Cr</a:t>
            </a:r>
            <a:endParaRPr lang="en-US" sz="3600" dirty="0"/>
          </a:p>
        </p:txBody>
      </p:sp>
      <p:sp>
        <p:nvSpPr>
          <p:cNvPr id="9" name="Text 7"/>
          <p:cNvSpPr/>
          <p:nvPr/>
        </p:nvSpPr>
        <p:spPr>
          <a:xfrm>
            <a:off x="4662984" y="2739231"/>
            <a:ext cx="2951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Arial" pitchFamily="34" charset="0"/>
                <a:ea typeface="Arial" pitchFamily="34" charset="-122"/>
                <a:cs typeface="Arial" pitchFamily="34" charset="-120"/>
              </a:rPr>
              <a:t>Total profit</a:t>
            </a:r>
            <a:endParaRPr lang="en-US" sz="1600" dirty="0"/>
          </a:p>
        </p:txBody>
      </p:sp>
      <p:sp>
        <p:nvSpPr>
          <p:cNvPr id="10" name="Shape 8"/>
          <p:cNvSpPr/>
          <p:nvPr/>
        </p:nvSpPr>
        <p:spPr>
          <a:xfrm>
            <a:off x="7992467" y="1925241"/>
            <a:ext cx="3386634" cy="1358801"/>
          </a:xfrm>
          <a:prstGeom prst="roundRect">
            <a:avLst>
              <a:gd name="adj" fmla="val 7477"/>
            </a:avLst>
          </a:prstGeom>
          <a:solidFill>
            <a:srgbClr val="14213D"/>
          </a:solidFill>
          <a:ln/>
        </p:spPr>
        <p:txBody>
          <a:bodyPr/>
          <a:lstStyle/>
          <a:p>
            <a:endParaRPr lang="en-IN"/>
          </a:p>
        </p:txBody>
      </p:sp>
      <p:sp>
        <p:nvSpPr>
          <p:cNvPr id="11" name="Text 9"/>
          <p:cNvSpPr/>
          <p:nvPr/>
        </p:nvSpPr>
        <p:spPr>
          <a:xfrm>
            <a:off x="8246467" y="2179241"/>
            <a:ext cx="2964993"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E9A23B"/>
                </a:solidFill>
                <a:latin typeface="Arial" pitchFamily="34" charset="0"/>
                <a:ea typeface="Arial" pitchFamily="34" charset="-122"/>
                <a:cs typeface="Arial" pitchFamily="34" charset="-120"/>
              </a:rPr>
              <a:t>27.8%</a:t>
            </a:r>
            <a:endParaRPr lang="en-US" sz="3600" dirty="0"/>
          </a:p>
        </p:txBody>
      </p:sp>
      <p:sp>
        <p:nvSpPr>
          <p:cNvPr id="12" name="Text 10"/>
          <p:cNvSpPr/>
          <p:nvPr/>
        </p:nvSpPr>
        <p:spPr>
          <a:xfrm>
            <a:off x="8246467" y="2732881"/>
            <a:ext cx="2964993"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4EC"/>
                </a:solidFill>
                <a:latin typeface="Arial" pitchFamily="34" charset="0"/>
                <a:ea typeface="Arial" pitchFamily="34" charset="-122"/>
                <a:cs typeface="Arial" pitchFamily="34" charset="-120"/>
              </a:rPr>
              <a:t>Profit margin</a:t>
            </a:r>
            <a:endParaRPr lang="en-US" sz="1600" dirty="0"/>
          </a:p>
        </p:txBody>
      </p:sp>
      <p:sp>
        <p:nvSpPr>
          <p:cNvPr id="13" name="Shape 11"/>
          <p:cNvSpPr/>
          <p:nvPr/>
        </p:nvSpPr>
        <p:spPr>
          <a:xfrm>
            <a:off x="815975" y="3490416"/>
            <a:ext cx="3380284" cy="1352451"/>
          </a:xfrm>
          <a:prstGeom prst="roundRect">
            <a:avLst>
              <a:gd name="adj" fmla="val 7278"/>
            </a:avLst>
          </a:prstGeom>
          <a:solidFill>
            <a:srgbClr val="FFFFFF"/>
          </a:solidFill>
          <a:ln w="6350">
            <a:solidFill>
              <a:srgbClr val="E3DED2"/>
            </a:solidFill>
            <a:prstDash val="solid"/>
          </a:ln>
        </p:spPr>
        <p:txBody>
          <a:bodyPr/>
          <a:lstStyle/>
          <a:p>
            <a:endParaRPr lang="en-IN"/>
          </a:p>
        </p:txBody>
      </p:sp>
      <p:sp>
        <p:nvSpPr>
          <p:cNvPr id="14" name="Text 12"/>
          <p:cNvSpPr/>
          <p:nvPr/>
        </p:nvSpPr>
        <p:spPr>
          <a:xfrm>
            <a:off x="1073150" y="3747591"/>
            <a:ext cx="295191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213D"/>
                </a:solidFill>
                <a:latin typeface="Arial" pitchFamily="34" charset="0"/>
                <a:ea typeface="Arial" pitchFamily="34" charset="-122"/>
                <a:cs typeface="Arial" pitchFamily="34" charset="-120"/>
              </a:rPr>
              <a:t>300</a:t>
            </a:r>
            <a:endParaRPr lang="en-US" sz="3600" dirty="0"/>
          </a:p>
        </p:txBody>
      </p:sp>
      <p:sp>
        <p:nvSpPr>
          <p:cNvPr id="15" name="Text 13"/>
          <p:cNvSpPr/>
          <p:nvPr/>
        </p:nvSpPr>
        <p:spPr>
          <a:xfrm>
            <a:off x="1073150" y="4301232"/>
            <a:ext cx="2951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Arial" pitchFamily="34" charset="0"/>
                <a:ea typeface="Arial" pitchFamily="34" charset="-122"/>
                <a:cs typeface="Arial" pitchFamily="34" charset="-120"/>
              </a:rPr>
              <a:t>Registered businesses</a:t>
            </a:r>
            <a:endParaRPr lang="en-US" sz="1600" dirty="0"/>
          </a:p>
        </p:txBody>
      </p:sp>
      <p:sp>
        <p:nvSpPr>
          <p:cNvPr id="16" name="Shape 14"/>
          <p:cNvSpPr/>
          <p:nvPr/>
        </p:nvSpPr>
        <p:spPr>
          <a:xfrm>
            <a:off x="4405809" y="3490416"/>
            <a:ext cx="3380284" cy="1352451"/>
          </a:xfrm>
          <a:prstGeom prst="roundRect">
            <a:avLst>
              <a:gd name="adj" fmla="val 7278"/>
            </a:avLst>
          </a:prstGeom>
          <a:solidFill>
            <a:srgbClr val="FFFFFF"/>
          </a:solidFill>
          <a:ln w="6350">
            <a:solidFill>
              <a:srgbClr val="E3DED2"/>
            </a:solidFill>
            <a:prstDash val="solid"/>
          </a:ln>
        </p:spPr>
        <p:txBody>
          <a:bodyPr/>
          <a:lstStyle/>
          <a:p>
            <a:endParaRPr lang="en-IN"/>
          </a:p>
        </p:txBody>
      </p:sp>
      <p:sp>
        <p:nvSpPr>
          <p:cNvPr id="17" name="Text 15"/>
          <p:cNvSpPr/>
          <p:nvPr/>
        </p:nvSpPr>
        <p:spPr>
          <a:xfrm>
            <a:off x="4662984" y="3747591"/>
            <a:ext cx="295191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213D"/>
                </a:solidFill>
                <a:latin typeface="Arial" pitchFamily="34" charset="0"/>
                <a:ea typeface="Arial" pitchFamily="34" charset="-122"/>
                <a:cs typeface="Arial" pitchFamily="34" charset="-120"/>
              </a:rPr>
              <a:t>37,438</a:t>
            </a:r>
            <a:endParaRPr lang="en-US" sz="3600" dirty="0"/>
          </a:p>
        </p:txBody>
      </p:sp>
      <p:sp>
        <p:nvSpPr>
          <p:cNvPr id="18" name="Text 16"/>
          <p:cNvSpPr/>
          <p:nvPr/>
        </p:nvSpPr>
        <p:spPr>
          <a:xfrm>
            <a:off x="4662984" y="4301232"/>
            <a:ext cx="2951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Arial" pitchFamily="34" charset="0"/>
                <a:ea typeface="Arial" pitchFamily="34" charset="-122"/>
                <a:cs typeface="Arial" pitchFamily="34" charset="-120"/>
              </a:rPr>
              <a:t>Employees</a:t>
            </a:r>
            <a:endParaRPr lang="en-US" sz="1600" dirty="0"/>
          </a:p>
        </p:txBody>
      </p:sp>
      <p:sp>
        <p:nvSpPr>
          <p:cNvPr id="19" name="Shape 17"/>
          <p:cNvSpPr/>
          <p:nvPr/>
        </p:nvSpPr>
        <p:spPr>
          <a:xfrm>
            <a:off x="7995642" y="3490416"/>
            <a:ext cx="3380284" cy="1352451"/>
          </a:xfrm>
          <a:prstGeom prst="roundRect">
            <a:avLst>
              <a:gd name="adj" fmla="val 7278"/>
            </a:avLst>
          </a:prstGeom>
          <a:solidFill>
            <a:srgbClr val="FFFFFF"/>
          </a:solidFill>
          <a:ln w="6350">
            <a:solidFill>
              <a:srgbClr val="E3DED2"/>
            </a:solidFill>
            <a:prstDash val="solid"/>
          </a:ln>
        </p:spPr>
        <p:txBody>
          <a:bodyPr/>
          <a:lstStyle/>
          <a:p>
            <a:endParaRPr lang="en-IN"/>
          </a:p>
        </p:txBody>
      </p:sp>
      <p:sp>
        <p:nvSpPr>
          <p:cNvPr id="20" name="Text 18"/>
          <p:cNvSpPr/>
          <p:nvPr/>
        </p:nvSpPr>
        <p:spPr>
          <a:xfrm>
            <a:off x="8252817" y="3747591"/>
            <a:ext cx="295191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213D"/>
                </a:solidFill>
                <a:latin typeface="Arial" pitchFamily="34" charset="0"/>
                <a:ea typeface="Arial" pitchFamily="34" charset="-122"/>
                <a:cs typeface="Arial" pitchFamily="34" charset="-120"/>
              </a:rPr>
              <a:t>12.1%</a:t>
            </a:r>
            <a:endParaRPr lang="en-US" sz="3600" dirty="0"/>
          </a:p>
        </p:txBody>
      </p:sp>
      <p:sp>
        <p:nvSpPr>
          <p:cNvPr id="21" name="Text 19"/>
          <p:cNvSpPr/>
          <p:nvPr/>
        </p:nvSpPr>
        <p:spPr>
          <a:xfrm>
            <a:off x="8252817" y="4301232"/>
            <a:ext cx="2951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Arial" pitchFamily="34" charset="0"/>
                <a:ea typeface="Arial" pitchFamily="34" charset="-122"/>
                <a:cs typeface="Arial" pitchFamily="34" charset="-120"/>
              </a:rPr>
              <a:t>Average YoY growth</a:t>
            </a:r>
            <a:endParaRPr lang="en-US" sz="1600" dirty="0"/>
          </a:p>
        </p:txBody>
      </p:sp>
      <p:sp>
        <p:nvSpPr>
          <p:cNvPr id="22" name="Text 20"/>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Arial" pitchFamily="34" charset="0"/>
                <a:ea typeface="Arial" pitchFamily="34" charset="-122"/>
                <a:cs typeface="Arial" pitchFamily="34" charset="-120"/>
              </a:rPr>
              <a:t>Source: MSME Business Performance Analysis workbook</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7A"/>
                </a:solidFill>
                <a:latin typeface="Arial" pitchFamily="34" charset="0"/>
                <a:ea typeface="Arial" pitchFamily="34" charset="-122"/>
                <a:cs typeface="Arial" pitchFamily="34" charset="-120"/>
              </a:rPr>
              <a:t>INDUSTRY VIEW</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Arial" pitchFamily="34" charset="0"/>
                <a:ea typeface="Arial" pitchFamily="34" charset="-122"/>
                <a:cs typeface="Arial" pitchFamily="34" charset="-120"/>
              </a:rPr>
              <a:t>Revenue by industry (₹ Cr)</a:t>
            </a:r>
            <a:endParaRPr lang="en-US" sz="3200" dirty="0"/>
          </a:p>
        </p:txBody>
      </p:sp>
      <p:sp>
        <p:nvSpPr>
          <p:cNvPr id="4" name="Text 2"/>
          <p:cNvSpPr/>
          <p:nvPr/>
        </p:nvSpPr>
        <p:spPr>
          <a:xfrm>
            <a:off x="812800" y="18770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Handicrafts</a:t>
            </a:r>
            <a:endParaRPr lang="en-US" sz="1400" dirty="0"/>
          </a:p>
        </p:txBody>
      </p:sp>
      <p:sp>
        <p:nvSpPr>
          <p:cNvPr id="5" name="Shape 3"/>
          <p:cNvSpPr/>
          <p:nvPr/>
        </p:nvSpPr>
        <p:spPr>
          <a:xfrm>
            <a:off x="2527300" y="1874441"/>
            <a:ext cx="3886200" cy="254000"/>
          </a:xfrm>
          <a:prstGeom prst="roundRect">
            <a:avLst>
              <a:gd name="adj" fmla="val 15000"/>
            </a:avLst>
          </a:prstGeom>
          <a:solidFill>
            <a:srgbClr val="1F7A7A"/>
          </a:solidFill>
          <a:ln/>
        </p:spPr>
        <p:txBody>
          <a:bodyPr/>
          <a:lstStyle/>
          <a:p>
            <a:endParaRPr lang="en-IN"/>
          </a:p>
        </p:txBody>
      </p:sp>
      <p:sp>
        <p:nvSpPr>
          <p:cNvPr id="6" name="Text 4"/>
          <p:cNvSpPr/>
          <p:nvPr/>
        </p:nvSpPr>
        <p:spPr>
          <a:xfrm>
            <a:off x="6540500" y="18770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322</a:t>
            </a:r>
            <a:endParaRPr lang="en-US" sz="1400" dirty="0"/>
          </a:p>
        </p:txBody>
      </p:sp>
      <p:sp>
        <p:nvSpPr>
          <p:cNvPr id="7" name="Text 5"/>
          <p:cNvSpPr/>
          <p:nvPr/>
        </p:nvSpPr>
        <p:spPr>
          <a:xfrm>
            <a:off x="812800" y="22199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Logistics</a:t>
            </a:r>
            <a:endParaRPr lang="en-US" sz="1400" dirty="0"/>
          </a:p>
        </p:txBody>
      </p:sp>
      <p:sp>
        <p:nvSpPr>
          <p:cNvPr id="8" name="Shape 6"/>
          <p:cNvSpPr/>
          <p:nvPr/>
        </p:nvSpPr>
        <p:spPr>
          <a:xfrm>
            <a:off x="2527300" y="2217341"/>
            <a:ext cx="3327400" cy="254000"/>
          </a:xfrm>
          <a:prstGeom prst="roundRect">
            <a:avLst>
              <a:gd name="adj" fmla="val 15000"/>
            </a:avLst>
          </a:prstGeom>
          <a:solidFill>
            <a:srgbClr val="1F7A7A"/>
          </a:solidFill>
          <a:ln/>
        </p:spPr>
        <p:txBody>
          <a:bodyPr/>
          <a:lstStyle/>
          <a:p>
            <a:endParaRPr lang="en-IN"/>
          </a:p>
        </p:txBody>
      </p:sp>
      <p:sp>
        <p:nvSpPr>
          <p:cNvPr id="9" name="Text 7"/>
          <p:cNvSpPr/>
          <p:nvPr/>
        </p:nvSpPr>
        <p:spPr>
          <a:xfrm>
            <a:off x="5981700" y="22199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276</a:t>
            </a:r>
            <a:endParaRPr lang="en-US" sz="1400" dirty="0"/>
          </a:p>
        </p:txBody>
      </p:sp>
      <p:sp>
        <p:nvSpPr>
          <p:cNvPr id="10" name="Text 8"/>
          <p:cNvSpPr/>
          <p:nvPr/>
        </p:nvSpPr>
        <p:spPr>
          <a:xfrm>
            <a:off x="812800" y="25628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Food Processing</a:t>
            </a:r>
            <a:endParaRPr lang="en-US" sz="1400" dirty="0"/>
          </a:p>
        </p:txBody>
      </p:sp>
      <p:sp>
        <p:nvSpPr>
          <p:cNvPr id="11" name="Shape 9"/>
          <p:cNvSpPr/>
          <p:nvPr/>
        </p:nvSpPr>
        <p:spPr>
          <a:xfrm>
            <a:off x="2527300" y="2560241"/>
            <a:ext cx="3295650" cy="254000"/>
          </a:xfrm>
          <a:prstGeom prst="roundRect">
            <a:avLst>
              <a:gd name="adj" fmla="val 15000"/>
            </a:avLst>
          </a:prstGeom>
          <a:solidFill>
            <a:srgbClr val="1F7A7A"/>
          </a:solidFill>
          <a:ln/>
        </p:spPr>
        <p:txBody>
          <a:bodyPr/>
          <a:lstStyle/>
          <a:p>
            <a:endParaRPr lang="en-IN"/>
          </a:p>
        </p:txBody>
      </p:sp>
      <p:sp>
        <p:nvSpPr>
          <p:cNvPr id="12" name="Text 10"/>
          <p:cNvSpPr/>
          <p:nvPr/>
        </p:nvSpPr>
        <p:spPr>
          <a:xfrm>
            <a:off x="5949950" y="25628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273</a:t>
            </a:r>
            <a:endParaRPr lang="en-US" sz="1400" dirty="0"/>
          </a:p>
        </p:txBody>
      </p:sp>
      <p:sp>
        <p:nvSpPr>
          <p:cNvPr id="13" name="Text 11"/>
          <p:cNvSpPr/>
          <p:nvPr/>
        </p:nvSpPr>
        <p:spPr>
          <a:xfrm>
            <a:off x="812800" y="29057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IT Services</a:t>
            </a:r>
            <a:endParaRPr lang="en-US" sz="1400" dirty="0"/>
          </a:p>
        </p:txBody>
      </p:sp>
      <p:sp>
        <p:nvSpPr>
          <p:cNvPr id="14" name="Shape 12"/>
          <p:cNvSpPr/>
          <p:nvPr/>
        </p:nvSpPr>
        <p:spPr>
          <a:xfrm>
            <a:off x="2527300" y="2903141"/>
            <a:ext cx="2882900" cy="254000"/>
          </a:xfrm>
          <a:prstGeom prst="roundRect">
            <a:avLst>
              <a:gd name="adj" fmla="val 15000"/>
            </a:avLst>
          </a:prstGeom>
          <a:solidFill>
            <a:srgbClr val="A9BEC0"/>
          </a:solidFill>
          <a:ln/>
        </p:spPr>
        <p:txBody>
          <a:bodyPr/>
          <a:lstStyle/>
          <a:p>
            <a:endParaRPr lang="en-IN"/>
          </a:p>
        </p:txBody>
      </p:sp>
      <p:sp>
        <p:nvSpPr>
          <p:cNvPr id="15" name="Text 13"/>
          <p:cNvSpPr/>
          <p:nvPr/>
        </p:nvSpPr>
        <p:spPr>
          <a:xfrm>
            <a:off x="5537200" y="29057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239</a:t>
            </a:r>
            <a:endParaRPr lang="en-US" sz="1400" dirty="0"/>
          </a:p>
        </p:txBody>
      </p:sp>
      <p:sp>
        <p:nvSpPr>
          <p:cNvPr id="16" name="Text 14"/>
          <p:cNvSpPr/>
          <p:nvPr/>
        </p:nvSpPr>
        <p:spPr>
          <a:xfrm>
            <a:off x="812800" y="32486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Healthcare</a:t>
            </a:r>
            <a:endParaRPr lang="en-US" sz="1400" dirty="0"/>
          </a:p>
        </p:txBody>
      </p:sp>
      <p:sp>
        <p:nvSpPr>
          <p:cNvPr id="17" name="Shape 15"/>
          <p:cNvSpPr/>
          <p:nvPr/>
        </p:nvSpPr>
        <p:spPr>
          <a:xfrm>
            <a:off x="2527300" y="3246041"/>
            <a:ext cx="2838450" cy="254000"/>
          </a:xfrm>
          <a:prstGeom prst="roundRect">
            <a:avLst>
              <a:gd name="adj" fmla="val 15000"/>
            </a:avLst>
          </a:prstGeom>
          <a:solidFill>
            <a:srgbClr val="A9BEC0"/>
          </a:solidFill>
          <a:ln/>
        </p:spPr>
        <p:txBody>
          <a:bodyPr/>
          <a:lstStyle/>
          <a:p>
            <a:endParaRPr lang="en-IN"/>
          </a:p>
        </p:txBody>
      </p:sp>
      <p:sp>
        <p:nvSpPr>
          <p:cNvPr id="18" name="Text 16"/>
          <p:cNvSpPr/>
          <p:nvPr/>
        </p:nvSpPr>
        <p:spPr>
          <a:xfrm>
            <a:off x="5492750" y="32486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235</a:t>
            </a:r>
            <a:endParaRPr lang="en-US" sz="1400" dirty="0"/>
          </a:p>
        </p:txBody>
      </p:sp>
      <p:sp>
        <p:nvSpPr>
          <p:cNvPr id="19" name="Text 17"/>
          <p:cNvSpPr/>
          <p:nvPr/>
        </p:nvSpPr>
        <p:spPr>
          <a:xfrm>
            <a:off x="812800" y="35915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Manufacturing</a:t>
            </a:r>
            <a:endParaRPr lang="en-US" sz="1400" dirty="0"/>
          </a:p>
        </p:txBody>
      </p:sp>
      <p:sp>
        <p:nvSpPr>
          <p:cNvPr id="20" name="Shape 18"/>
          <p:cNvSpPr/>
          <p:nvPr/>
        </p:nvSpPr>
        <p:spPr>
          <a:xfrm>
            <a:off x="2527300" y="3588941"/>
            <a:ext cx="2603500" cy="254000"/>
          </a:xfrm>
          <a:prstGeom prst="roundRect">
            <a:avLst>
              <a:gd name="adj" fmla="val 15000"/>
            </a:avLst>
          </a:prstGeom>
          <a:solidFill>
            <a:srgbClr val="A9BEC0"/>
          </a:solidFill>
          <a:ln/>
        </p:spPr>
        <p:txBody>
          <a:bodyPr/>
          <a:lstStyle/>
          <a:p>
            <a:endParaRPr lang="en-IN"/>
          </a:p>
        </p:txBody>
      </p:sp>
      <p:sp>
        <p:nvSpPr>
          <p:cNvPr id="21" name="Text 19"/>
          <p:cNvSpPr/>
          <p:nvPr/>
        </p:nvSpPr>
        <p:spPr>
          <a:xfrm>
            <a:off x="5257800" y="35915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216</a:t>
            </a:r>
            <a:endParaRPr lang="en-US" sz="1400" dirty="0"/>
          </a:p>
        </p:txBody>
      </p:sp>
      <p:sp>
        <p:nvSpPr>
          <p:cNvPr id="22" name="Text 20"/>
          <p:cNvSpPr/>
          <p:nvPr/>
        </p:nvSpPr>
        <p:spPr>
          <a:xfrm>
            <a:off x="812800" y="39344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Textiles</a:t>
            </a:r>
            <a:endParaRPr lang="en-US" sz="1400" dirty="0"/>
          </a:p>
        </p:txBody>
      </p:sp>
      <p:sp>
        <p:nvSpPr>
          <p:cNvPr id="23" name="Shape 21"/>
          <p:cNvSpPr/>
          <p:nvPr/>
        </p:nvSpPr>
        <p:spPr>
          <a:xfrm>
            <a:off x="2527300" y="3931841"/>
            <a:ext cx="1860550" cy="254000"/>
          </a:xfrm>
          <a:prstGeom prst="roundRect">
            <a:avLst>
              <a:gd name="adj" fmla="val 15000"/>
            </a:avLst>
          </a:prstGeom>
          <a:solidFill>
            <a:srgbClr val="A9BEC0"/>
          </a:solidFill>
          <a:ln/>
        </p:spPr>
        <p:txBody>
          <a:bodyPr/>
          <a:lstStyle/>
          <a:p>
            <a:endParaRPr lang="en-IN"/>
          </a:p>
        </p:txBody>
      </p:sp>
      <p:sp>
        <p:nvSpPr>
          <p:cNvPr id="24" name="Text 22"/>
          <p:cNvSpPr/>
          <p:nvPr/>
        </p:nvSpPr>
        <p:spPr>
          <a:xfrm>
            <a:off x="4514850" y="39344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154</a:t>
            </a:r>
            <a:endParaRPr lang="en-US" sz="1400" dirty="0"/>
          </a:p>
        </p:txBody>
      </p:sp>
      <p:sp>
        <p:nvSpPr>
          <p:cNvPr id="25" name="Text 23"/>
          <p:cNvSpPr/>
          <p:nvPr/>
        </p:nvSpPr>
        <p:spPr>
          <a:xfrm>
            <a:off x="812800" y="42773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Retail</a:t>
            </a:r>
            <a:endParaRPr lang="en-US" sz="1400" dirty="0"/>
          </a:p>
        </p:txBody>
      </p:sp>
      <p:sp>
        <p:nvSpPr>
          <p:cNvPr id="26" name="Shape 24"/>
          <p:cNvSpPr/>
          <p:nvPr/>
        </p:nvSpPr>
        <p:spPr>
          <a:xfrm>
            <a:off x="2527300" y="4274741"/>
            <a:ext cx="1530350" cy="254000"/>
          </a:xfrm>
          <a:prstGeom prst="roundRect">
            <a:avLst>
              <a:gd name="adj" fmla="val 15000"/>
            </a:avLst>
          </a:prstGeom>
          <a:solidFill>
            <a:srgbClr val="A9BEC0"/>
          </a:solidFill>
          <a:ln/>
        </p:spPr>
        <p:txBody>
          <a:bodyPr/>
          <a:lstStyle/>
          <a:p>
            <a:endParaRPr lang="en-IN"/>
          </a:p>
        </p:txBody>
      </p:sp>
      <p:sp>
        <p:nvSpPr>
          <p:cNvPr id="27" name="Text 25"/>
          <p:cNvSpPr/>
          <p:nvPr/>
        </p:nvSpPr>
        <p:spPr>
          <a:xfrm>
            <a:off x="4184650" y="42773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127</a:t>
            </a:r>
            <a:endParaRPr lang="en-US" sz="1400" dirty="0"/>
          </a:p>
        </p:txBody>
      </p:sp>
      <p:sp>
        <p:nvSpPr>
          <p:cNvPr id="28" name="Shape 26"/>
          <p:cNvSpPr/>
          <p:nvPr/>
        </p:nvSpPr>
        <p:spPr>
          <a:xfrm>
            <a:off x="8585200" y="1874441"/>
            <a:ext cx="2794000" cy="2250281"/>
          </a:xfrm>
          <a:prstGeom prst="roundRect">
            <a:avLst>
              <a:gd name="adj" fmla="val 4515"/>
            </a:avLst>
          </a:prstGeom>
          <a:solidFill>
            <a:srgbClr val="14213D"/>
          </a:solidFill>
          <a:ln/>
        </p:spPr>
        <p:txBody>
          <a:bodyPr/>
          <a:lstStyle/>
          <a:p>
            <a:endParaRPr lang="en-IN"/>
          </a:p>
        </p:txBody>
      </p:sp>
      <p:sp>
        <p:nvSpPr>
          <p:cNvPr id="29" name="Text 27"/>
          <p:cNvSpPr/>
          <p:nvPr/>
        </p:nvSpPr>
        <p:spPr>
          <a:xfrm>
            <a:off x="8839200" y="2128441"/>
            <a:ext cx="2354580"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E9A23B"/>
                </a:solidFill>
                <a:latin typeface="Arial" pitchFamily="34" charset="0"/>
                <a:ea typeface="Arial" pitchFamily="34" charset="-122"/>
                <a:cs typeface="Arial" pitchFamily="34" charset="-120"/>
              </a:rPr>
              <a:t>47%</a:t>
            </a:r>
            <a:endParaRPr lang="en-US" sz="3600" dirty="0"/>
          </a:p>
        </p:txBody>
      </p:sp>
      <p:sp>
        <p:nvSpPr>
          <p:cNvPr id="30" name="Text 28"/>
          <p:cNvSpPr/>
          <p:nvPr/>
        </p:nvSpPr>
        <p:spPr>
          <a:xfrm>
            <a:off x="8839200" y="2732881"/>
            <a:ext cx="2354580"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4EC"/>
                </a:solidFill>
                <a:latin typeface="Arial" pitchFamily="34" charset="0"/>
                <a:ea typeface="Arial" pitchFamily="34" charset="-122"/>
                <a:cs typeface="Arial" pitchFamily="34" charset="-120"/>
              </a:rPr>
              <a:t>of revenue comes from the top three industries: Handicrafts, Logistics and Food Processing.</a:t>
            </a:r>
            <a:endParaRPr lang="en-US" sz="1600" dirty="0"/>
          </a:p>
        </p:txBody>
      </p:sp>
      <p:sp>
        <p:nvSpPr>
          <p:cNvPr id="31" name="Text 29"/>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Arial" pitchFamily="34" charset="0"/>
                <a:ea typeface="Arial" pitchFamily="34" charset="-122"/>
                <a:cs typeface="Arial" pitchFamily="34" charset="-120"/>
              </a:rPr>
              <a:t>Source: MSME Business Performance Analysis workbook</a:t>
            </a:r>
            <a:endParaRPr lang="en-US" sz="1200" dirty="0"/>
          </a:p>
        </p:txBody>
      </p:sp>
      <p:sp>
        <p:nvSpPr>
          <p:cNvPr id="32" name="Text 3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7A"/>
                </a:solidFill>
                <a:latin typeface="Arial" pitchFamily="34" charset="0"/>
                <a:ea typeface="Arial" pitchFamily="34" charset="-122"/>
                <a:cs typeface="Arial" pitchFamily="34" charset="-120"/>
              </a:rPr>
              <a:t>INDUSTRY VIEW</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Arial" pitchFamily="34" charset="0"/>
                <a:ea typeface="Arial" pitchFamily="34" charset="-122"/>
                <a:cs typeface="Arial" pitchFamily="34" charset="-120"/>
              </a:rPr>
              <a:t>Profitability and growth by industry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7141"/>
          <a:ext cx="10553700" cy="3473649"/>
        </p:xfrm>
        <a:graphic>
          <a:graphicData uri="http://schemas.openxmlformats.org/drawingml/2006/table">
            <a:tbl>
              <a:tblPr/>
              <a:tblGrid>
                <a:gridCol w="2955036">
                  <a:extLst>
                    <a:ext uri="{9D8B030D-6E8A-4147-A177-3AD203B41FA5}">
                      <a16:colId xmlns:a16="http://schemas.microsoft.com/office/drawing/2014/main" val="20000"/>
                    </a:ext>
                  </a:extLst>
                </a:gridCol>
                <a:gridCol w="1899666">
                  <a:extLst>
                    <a:ext uri="{9D8B030D-6E8A-4147-A177-3AD203B41FA5}">
                      <a16:colId xmlns:a16="http://schemas.microsoft.com/office/drawing/2014/main" val="20001"/>
                    </a:ext>
                  </a:extLst>
                </a:gridCol>
                <a:gridCol w="1899666">
                  <a:extLst>
                    <a:ext uri="{9D8B030D-6E8A-4147-A177-3AD203B41FA5}">
                      <a16:colId xmlns:a16="http://schemas.microsoft.com/office/drawing/2014/main" val="20002"/>
                    </a:ext>
                  </a:extLst>
                </a:gridCol>
                <a:gridCol w="1899666">
                  <a:extLst>
                    <a:ext uri="{9D8B030D-6E8A-4147-A177-3AD203B41FA5}">
                      <a16:colId xmlns:a16="http://schemas.microsoft.com/office/drawing/2014/main" val="20003"/>
                    </a:ext>
                  </a:extLst>
                </a:gridCol>
                <a:gridCol w="1899666">
                  <a:extLst>
                    <a:ext uri="{9D8B030D-6E8A-4147-A177-3AD203B41FA5}">
                      <a16:colId xmlns:a16="http://schemas.microsoft.com/office/drawing/2014/main" val="20004"/>
                    </a:ext>
                  </a:extLst>
                </a:gridCol>
              </a:tblGrid>
              <a:tr h="385961">
                <a:tc>
                  <a:txBody>
                    <a:bodyPr/>
                    <a:lstStyle/>
                    <a:p>
                      <a:pPr marL="0" indent="0">
                        <a:lnSpc>
                          <a:spcPts val="1960"/>
                        </a:lnSpc>
                        <a:buNone/>
                      </a:pPr>
                      <a:r>
                        <a:rPr lang="en-US" sz="1400" b="1" dirty="0">
                          <a:solidFill>
                            <a:srgbClr val="14213D"/>
                          </a:solidFill>
                          <a:latin typeface="Arial" pitchFamily="34" charset="0"/>
                          <a:ea typeface="Arial" pitchFamily="34" charset="-122"/>
                          <a:cs typeface="Arial" pitchFamily="34" charset="-120"/>
                        </a:rPr>
                        <a:t>Industry</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B7B5AF"/>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7B5AF"/>
                      </a:solidFill>
                      <a:prstDash val="solid"/>
                      <a:round/>
                      <a:headEnd type="none" w="med" len="med"/>
                      <a:tailEnd type="none" w="med" len="med"/>
                    </a:lnB>
                    <a:solidFill>
                      <a:srgbClr val="E5E2DB"/>
                    </a:solidFill>
                  </a:tcPr>
                </a:tc>
                <a:tc>
                  <a:txBody>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Businesses</a:t>
                      </a:r>
                      <a:endParaRPr lang="en-US" sz="1400" dirty="0">
                        <a:latin typeface="Arial" charset="0"/>
                        <a:ea typeface="Arial" charset="0"/>
                        <a:cs typeface="Arial" charset="0"/>
                      </a:endParaRPr>
                    </a:p>
                  </a:txBody>
                  <a:tcPr marL="62230" marR="62230" marT="62230" marB="62230">
                    <a:lnL w="12700" cap="flat" cmpd="sng" algn="ctr">
                      <a:solidFill>
                        <a:srgbClr val="B7B5AF"/>
                      </a:solidFill>
                      <a:prstDash val="solid"/>
                      <a:round/>
                      <a:headEnd type="none" w="med" len="med"/>
                      <a:tailEnd type="none" w="med" len="med"/>
                    </a:lnL>
                    <a:lnR w="12700" cap="flat" cmpd="sng" algn="ctr">
                      <a:solidFill>
                        <a:srgbClr val="B7B5AF"/>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7B5AF"/>
                      </a:solidFill>
                      <a:prstDash val="solid"/>
                      <a:round/>
                      <a:headEnd type="none" w="med" len="med"/>
                      <a:tailEnd type="none" w="med" len="med"/>
                    </a:lnB>
                    <a:solidFill>
                      <a:srgbClr val="E5E2DB"/>
                    </a:solidFill>
                  </a:tcPr>
                </a:tc>
                <a:tc>
                  <a:txBody>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Profit (₹ Cr)</a:t>
                      </a:r>
                      <a:endParaRPr lang="en-US" sz="1400" dirty="0">
                        <a:latin typeface="Arial" charset="0"/>
                        <a:ea typeface="Arial" charset="0"/>
                        <a:cs typeface="Arial" charset="0"/>
                      </a:endParaRPr>
                    </a:p>
                  </a:txBody>
                  <a:tcPr marL="62230" marR="62230" marT="62230" marB="62230">
                    <a:lnL w="12700" cap="flat" cmpd="sng" algn="ctr">
                      <a:solidFill>
                        <a:srgbClr val="B7B5AF"/>
                      </a:solidFill>
                      <a:prstDash val="solid"/>
                      <a:round/>
                      <a:headEnd type="none" w="med" len="med"/>
                      <a:tailEnd type="none" w="med" len="med"/>
                    </a:lnL>
                    <a:lnR w="12700" cap="flat" cmpd="sng" algn="ctr">
                      <a:solidFill>
                        <a:srgbClr val="B7B5AF"/>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7B5AF"/>
                      </a:solidFill>
                      <a:prstDash val="solid"/>
                      <a:round/>
                      <a:headEnd type="none" w="med" len="med"/>
                      <a:tailEnd type="none" w="med" len="med"/>
                    </a:lnB>
                    <a:solidFill>
                      <a:srgbClr val="E5E2DB"/>
                    </a:solidFill>
                  </a:tcPr>
                </a:tc>
                <a:tc>
                  <a:txBody>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Margin</a:t>
                      </a:r>
                      <a:endParaRPr lang="en-US" sz="1400" dirty="0">
                        <a:latin typeface="Arial" charset="0"/>
                        <a:ea typeface="Arial" charset="0"/>
                        <a:cs typeface="Arial" charset="0"/>
                      </a:endParaRPr>
                    </a:p>
                  </a:txBody>
                  <a:tcPr marL="62230" marR="62230" marT="62230" marB="62230">
                    <a:lnL w="12700" cap="flat" cmpd="sng" algn="ctr">
                      <a:solidFill>
                        <a:srgbClr val="B7B5AF"/>
                      </a:solidFill>
                      <a:prstDash val="solid"/>
                      <a:round/>
                      <a:headEnd type="none" w="med" len="med"/>
                      <a:tailEnd type="none" w="med" len="med"/>
                    </a:lnL>
                    <a:lnR w="12700" cap="flat" cmpd="sng" algn="ctr">
                      <a:solidFill>
                        <a:srgbClr val="B7B5AF"/>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7B5AF"/>
                      </a:solidFill>
                      <a:prstDash val="solid"/>
                      <a:round/>
                      <a:headEnd type="none" w="med" len="med"/>
                      <a:tailEnd type="none" w="med" len="med"/>
                    </a:lnB>
                    <a:solidFill>
                      <a:srgbClr val="E5E2DB"/>
                    </a:solidFill>
                  </a:tcPr>
                </a:tc>
                <a:tc>
                  <a:txBody>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Avg growth</a:t>
                      </a:r>
                      <a:endParaRPr lang="en-US" sz="1400" dirty="0">
                        <a:latin typeface="Arial" charset="0"/>
                        <a:ea typeface="Arial" charset="0"/>
                        <a:cs typeface="Arial" charset="0"/>
                      </a:endParaRPr>
                    </a:p>
                  </a:txBody>
                  <a:tcPr marL="62230" marR="62230" marT="62230" marB="62230">
                    <a:lnL w="12700" cap="flat" cmpd="sng" algn="ctr">
                      <a:solidFill>
                        <a:srgbClr val="B7B5AF"/>
                      </a:solidFill>
                      <a:prstDash val="solid"/>
                      <a:round/>
                      <a:headEnd type="none" w="med" len="med"/>
                      <a:tailEnd type="none" w="med" len="med"/>
                    </a:lnL>
                    <a:lnR w="12700" cap="flat" cmpd="sng" algn="ctr">
                      <a:solidFill>
                        <a:srgbClr val="B7B5AF"/>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7B5AF"/>
                      </a:solidFill>
                      <a:prstDash val="solid"/>
                      <a:round/>
                      <a:headEnd type="none" w="med" len="med"/>
                      <a:tailEnd type="none" w="med" len="med"/>
                    </a:lnB>
                    <a:solidFill>
                      <a:srgbClr val="E5E2DB"/>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Textiles</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7B5AF"/>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25</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7B5AF"/>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53</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7B5AF"/>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34.5%</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7B5AF"/>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9.4%</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7B5AF"/>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Healthcare</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39</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68</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28.9%</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11.7%</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Retail</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32</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35</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27.6%</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10.7%</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Handicrafts</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45</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89</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27.6%</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13.3%</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Manufacturing</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33</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59</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27.4%</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13.3%</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Logistics</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48</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73</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26.6%</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13.5%</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Food Processing</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35</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73</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26.6%</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12.1%</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7"/>
                  </a:ext>
                </a:extLst>
              </a:tr>
              <a:tr h="385961">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IT Services</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43</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62</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26.2%</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11.0%</a:t>
                      </a:r>
                      <a:endParaRPr lang="en-US" sz="1400" dirty="0">
                        <a:latin typeface="Arial" charset="0"/>
                        <a:ea typeface="Arial" charset="0"/>
                        <a:cs typeface="Arial" charset="0"/>
                      </a:endParaRPr>
                    </a:p>
                  </a:txBody>
                  <a:tcPr marL="62230" marR="62230" marT="62230" marB="62230">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Arial" pitchFamily="34" charset="0"/>
                <a:ea typeface="Arial" pitchFamily="34" charset="-122"/>
                <a:cs typeface="Arial" pitchFamily="34" charset="-120"/>
              </a:rPr>
              <a:t>Source: MSME Business Performance Analysis workbook · margin = profit ÷ revenue</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7A"/>
                </a:solidFill>
                <a:latin typeface="Arial" pitchFamily="34" charset="0"/>
                <a:ea typeface="Arial" pitchFamily="34" charset="-122"/>
                <a:cs typeface="Arial" pitchFamily="34" charset="-120"/>
              </a:rPr>
              <a:t>STATE VIEW</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Arial" pitchFamily="34" charset="0"/>
                <a:ea typeface="Arial" pitchFamily="34" charset="-122"/>
                <a:cs typeface="Arial" pitchFamily="34" charset="-120"/>
              </a:rPr>
              <a:t>Revenue by state (₹ Cr)</a:t>
            </a:r>
            <a:endParaRPr lang="en-US" sz="3200" dirty="0"/>
          </a:p>
        </p:txBody>
      </p:sp>
      <p:sp>
        <p:nvSpPr>
          <p:cNvPr id="4" name="Text 2"/>
          <p:cNvSpPr/>
          <p:nvPr/>
        </p:nvSpPr>
        <p:spPr>
          <a:xfrm>
            <a:off x="812800" y="18897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Manipur</a:t>
            </a:r>
            <a:endParaRPr lang="en-US" sz="1400" dirty="0"/>
          </a:p>
        </p:txBody>
      </p:sp>
      <p:sp>
        <p:nvSpPr>
          <p:cNvPr id="5" name="Shape 3"/>
          <p:cNvSpPr/>
          <p:nvPr/>
        </p:nvSpPr>
        <p:spPr>
          <a:xfrm>
            <a:off x="2527300" y="1874441"/>
            <a:ext cx="3854450" cy="279400"/>
          </a:xfrm>
          <a:prstGeom prst="roundRect">
            <a:avLst>
              <a:gd name="adj" fmla="val 13636"/>
            </a:avLst>
          </a:prstGeom>
          <a:solidFill>
            <a:srgbClr val="1F7A7A"/>
          </a:solidFill>
          <a:ln/>
        </p:spPr>
        <p:txBody>
          <a:bodyPr/>
          <a:lstStyle/>
          <a:p>
            <a:endParaRPr lang="en-IN"/>
          </a:p>
        </p:txBody>
      </p:sp>
      <p:sp>
        <p:nvSpPr>
          <p:cNvPr id="6" name="Text 4"/>
          <p:cNvSpPr/>
          <p:nvPr/>
        </p:nvSpPr>
        <p:spPr>
          <a:xfrm>
            <a:off x="6508750" y="18897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264</a:t>
            </a:r>
            <a:endParaRPr lang="en-US" sz="1400" dirty="0"/>
          </a:p>
        </p:txBody>
      </p:sp>
      <p:sp>
        <p:nvSpPr>
          <p:cNvPr id="7" name="Text 5"/>
          <p:cNvSpPr/>
          <p:nvPr/>
        </p:nvSpPr>
        <p:spPr>
          <a:xfrm>
            <a:off x="812800" y="22453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Karnataka</a:t>
            </a:r>
            <a:endParaRPr lang="en-US" sz="1400" dirty="0"/>
          </a:p>
        </p:txBody>
      </p:sp>
      <p:sp>
        <p:nvSpPr>
          <p:cNvPr id="8" name="Shape 6"/>
          <p:cNvSpPr/>
          <p:nvPr/>
        </p:nvSpPr>
        <p:spPr>
          <a:xfrm>
            <a:off x="2527300" y="2230041"/>
            <a:ext cx="3810000" cy="279400"/>
          </a:xfrm>
          <a:prstGeom prst="roundRect">
            <a:avLst>
              <a:gd name="adj" fmla="val 13636"/>
            </a:avLst>
          </a:prstGeom>
          <a:solidFill>
            <a:srgbClr val="1F7A7A"/>
          </a:solidFill>
          <a:ln/>
        </p:spPr>
        <p:txBody>
          <a:bodyPr/>
          <a:lstStyle/>
          <a:p>
            <a:endParaRPr lang="en-IN"/>
          </a:p>
        </p:txBody>
      </p:sp>
      <p:sp>
        <p:nvSpPr>
          <p:cNvPr id="9" name="Text 7"/>
          <p:cNvSpPr/>
          <p:nvPr/>
        </p:nvSpPr>
        <p:spPr>
          <a:xfrm>
            <a:off x="6464300" y="22453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261</a:t>
            </a:r>
            <a:endParaRPr lang="en-US" sz="1400" dirty="0"/>
          </a:p>
        </p:txBody>
      </p:sp>
      <p:sp>
        <p:nvSpPr>
          <p:cNvPr id="10" name="Text 8"/>
          <p:cNvSpPr/>
          <p:nvPr/>
        </p:nvSpPr>
        <p:spPr>
          <a:xfrm>
            <a:off x="812800" y="26009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Assam</a:t>
            </a:r>
            <a:endParaRPr lang="en-US" sz="1400" dirty="0"/>
          </a:p>
        </p:txBody>
      </p:sp>
      <p:sp>
        <p:nvSpPr>
          <p:cNvPr id="11" name="Shape 9"/>
          <p:cNvSpPr/>
          <p:nvPr/>
        </p:nvSpPr>
        <p:spPr>
          <a:xfrm>
            <a:off x="2527300" y="2585641"/>
            <a:ext cx="3346450" cy="279400"/>
          </a:xfrm>
          <a:prstGeom prst="roundRect">
            <a:avLst>
              <a:gd name="adj" fmla="val 13636"/>
            </a:avLst>
          </a:prstGeom>
          <a:solidFill>
            <a:srgbClr val="1F7A7A"/>
          </a:solidFill>
          <a:ln/>
        </p:spPr>
        <p:txBody>
          <a:bodyPr/>
          <a:lstStyle/>
          <a:p>
            <a:endParaRPr lang="en-IN"/>
          </a:p>
        </p:txBody>
      </p:sp>
      <p:sp>
        <p:nvSpPr>
          <p:cNvPr id="12" name="Text 10"/>
          <p:cNvSpPr/>
          <p:nvPr/>
        </p:nvSpPr>
        <p:spPr>
          <a:xfrm>
            <a:off x="6000750" y="26009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229</a:t>
            </a:r>
            <a:endParaRPr lang="en-US" sz="1400" dirty="0"/>
          </a:p>
        </p:txBody>
      </p:sp>
      <p:sp>
        <p:nvSpPr>
          <p:cNvPr id="13" name="Text 11"/>
          <p:cNvSpPr/>
          <p:nvPr/>
        </p:nvSpPr>
        <p:spPr>
          <a:xfrm>
            <a:off x="812800" y="29565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Telangana</a:t>
            </a:r>
            <a:endParaRPr lang="en-US" sz="1400" dirty="0"/>
          </a:p>
        </p:txBody>
      </p:sp>
      <p:sp>
        <p:nvSpPr>
          <p:cNvPr id="14" name="Shape 12"/>
          <p:cNvSpPr/>
          <p:nvPr/>
        </p:nvSpPr>
        <p:spPr>
          <a:xfrm>
            <a:off x="2527300" y="2941241"/>
            <a:ext cx="3111500" cy="279400"/>
          </a:xfrm>
          <a:prstGeom prst="roundRect">
            <a:avLst>
              <a:gd name="adj" fmla="val 13636"/>
            </a:avLst>
          </a:prstGeom>
          <a:solidFill>
            <a:srgbClr val="A9BEC0"/>
          </a:solidFill>
          <a:ln/>
        </p:spPr>
        <p:txBody>
          <a:bodyPr/>
          <a:lstStyle/>
          <a:p>
            <a:endParaRPr lang="en-IN"/>
          </a:p>
        </p:txBody>
      </p:sp>
      <p:sp>
        <p:nvSpPr>
          <p:cNvPr id="15" name="Text 13"/>
          <p:cNvSpPr/>
          <p:nvPr/>
        </p:nvSpPr>
        <p:spPr>
          <a:xfrm>
            <a:off x="5765800" y="29565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213</a:t>
            </a:r>
            <a:endParaRPr lang="en-US" sz="1400" dirty="0"/>
          </a:p>
        </p:txBody>
      </p:sp>
      <p:sp>
        <p:nvSpPr>
          <p:cNvPr id="16" name="Text 14"/>
          <p:cNvSpPr/>
          <p:nvPr/>
        </p:nvSpPr>
        <p:spPr>
          <a:xfrm>
            <a:off x="812800" y="33121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Gujarat</a:t>
            </a:r>
            <a:endParaRPr lang="en-US" sz="1400" dirty="0"/>
          </a:p>
        </p:txBody>
      </p:sp>
      <p:sp>
        <p:nvSpPr>
          <p:cNvPr id="17" name="Shape 15"/>
          <p:cNvSpPr/>
          <p:nvPr/>
        </p:nvSpPr>
        <p:spPr>
          <a:xfrm>
            <a:off x="2527300" y="3296841"/>
            <a:ext cx="2616200" cy="279400"/>
          </a:xfrm>
          <a:prstGeom prst="roundRect">
            <a:avLst>
              <a:gd name="adj" fmla="val 13636"/>
            </a:avLst>
          </a:prstGeom>
          <a:solidFill>
            <a:srgbClr val="A9BEC0"/>
          </a:solidFill>
          <a:ln/>
        </p:spPr>
        <p:txBody>
          <a:bodyPr/>
          <a:lstStyle/>
          <a:p>
            <a:endParaRPr lang="en-IN"/>
          </a:p>
        </p:txBody>
      </p:sp>
      <p:sp>
        <p:nvSpPr>
          <p:cNvPr id="18" name="Text 16"/>
          <p:cNvSpPr/>
          <p:nvPr/>
        </p:nvSpPr>
        <p:spPr>
          <a:xfrm>
            <a:off x="5270500" y="33121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179</a:t>
            </a:r>
            <a:endParaRPr lang="en-US" sz="1400" dirty="0"/>
          </a:p>
        </p:txBody>
      </p:sp>
      <p:sp>
        <p:nvSpPr>
          <p:cNvPr id="19" name="Text 17"/>
          <p:cNvSpPr/>
          <p:nvPr/>
        </p:nvSpPr>
        <p:spPr>
          <a:xfrm>
            <a:off x="812800" y="36677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Tamil Nadu</a:t>
            </a:r>
            <a:endParaRPr lang="en-US" sz="1400" dirty="0"/>
          </a:p>
        </p:txBody>
      </p:sp>
      <p:sp>
        <p:nvSpPr>
          <p:cNvPr id="20" name="Shape 18"/>
          <p:cNvSpPr/>
          <p:nvPr/>
        </p:nvSpPr>
        <p:spPr>
          <a:xfrm>
            <a:off x="2527300" y="3652441"/>
            <a:ext cx="2368550" cy="279400"/>
          </a:xfrm>
          <a:prstGeom prst="roundRect">
            <a:avLst>
              <a:gd name="adj" fmla="val 13636"/>
            </a:avLst>
          </a:prstGeom>
          <a:solidFill>
            <a:srgbClr val="A9BEC0"/>
          </a:solidFill>
          <a:ln/>
        </p:spPr>
        <p:txBody>
          <a:bodyPr/>
          <a:lstStyle/>
          <a:p>
            <a:endParaRPr lang="en-IN"/>
          </a:p>
        </p:txBody>
      </p:sp>
      <p:sp>
        <p:nvSpPr>
          <p:cNvPr id="21" name="Text 19"/>
          <p:cNvSpPr/>
          <p:nvPr/>
        </p:nvSpPr>
        <p:spPr>
          <a:xfrm>
            <a:off x="5022850" y="36677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162</a:t>
            </a:r>
            <a:endParaRPr lang="en-US" sz="1400" dirty="0"/>
          </a:p>
        </p:txBody>
      </p:sp>
      <p:sp>
        <p:nvSpPr>
          <p:cNvPr id="22" name="Text 20"/>
          <p:cNvSpPr/>
          <p:nvPr/>
        </p:nvSpPr>
        <p:spPr>
          <a:xfrm>
            <a:off x="812800" y="40233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Maharashtra</a:t>
            </a:r>
            <a:endParaRPr lang="en-US" sz="1400" dirty="0"/>
          </a:p>
        </p:txBody>
      </p:sp>
      <p:sp>
        <p:nvSpPr>
          <p:cNvPr id="23" name="Shape 21"/>
          <p:cNvSpPr/>
          <p:nvPr/>
        </p:nvSpPr>
        <p:spPr>
          <a:xfrm>
            <a:off x="2527300" y="4008041"/>
            <a:ext cx="2324100" cy="279400"/>
          </a:xfrm>
          <a:prstGeom prst="roundRect">
            <a:avLst>
              <a:gd name="adj" fmla="val 13636"/>
            </a:avLst>
          </a:prstGeom>
          <a:solidFill>
            <a:srgbClr val="A9BEC0"/>
          </a:solidFill>
          <a:ln/>
        </p:spPr>
        <p:txBody>
          <a:bodyPr/>
          <a:lstStyle/>
          <a:p>
            <a:endParaRPr lang="en-IN"/>
          </a:p>
        </p:txBody>
      </p:sp>
      <p:sp>
        <p:nvSpPr>
          <p:cNvPr id="24" name="Text 22"/>
          <p:cNvSpPr/>
          <p:nvPr/>
        </p:nvSpPr>
        <p:spPr>
          <a:xfrm>
            <a:off x="4978400" y="40233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159</a:t>
            </a:r>
            <a:endParaRPr lang="en-US" sz="1400" dirty="0"/>
          </a:p>
        </p:txBody>
      </p:sp>
      <p:sp>
        <p:nvSpPr>
          <p:cNvPr id="25" name="Text 23"/>
          <p:cNvSpPr/>
          <p:nvPr/>
        </p:nvSpPr>
        <p:spPr>
          <a:xfrm>
            <a:off x="812800" y="43789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Odisha</a:t>
            </a:r>
            <a:endParaRPr lang="en-US" sz="1400" dirty="0"/>
          </a:p>
        </p:txBody>
      </p:sp>
      <p:sp>
        <p:nvSpPr>
          <p:cNvPr id="26" name="Shape 24"/>
          <p:cNvSpPr/>
          <p:nvPr/>
        </p:nvSpPr>
        <p:spPr>
          <a:xfrm>
            <a:off x="2527300" y="4363641"/>
            <a:ext cx="2292350" cy="279400"/>
          </a:xfrm>
          <a:prstGeom prst="roundRect">
            <a:avLst>
              <a:gd name="adj" fmla="val 13636"/>
            </a:avLst>
          </a:prstGeom>
          <a:solidFill>
            <a:srgbClr val="A9BEC0"/>
          </a:solidFill>
          <a:ln/>
        </p:spPr>
        <p:txBody>
          <a:bodyPr/>
          <a:lstStyle/>
          <a:p>
            <a:endParaRPr lang="en-IN"/>
          </a:p>
        </p:txBody>
      </p:sp>
      <p:sp>
        <p:nvSpPr>
          <p:cNvPr id="27" name="Text 25"/>
          <p:cNvSpPr/>
          <p:nvPr/>
        </p:nvSpPr>
        <p:spPr>
          <a:xfrm>
            <a:off x="4946650" y="43789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157</a:t>
            </a:r>
            <a:endParaRPr lang="en-US" sz="1400" dirty="0"/>
          </a:p>
        </p:txBody>
      </p:sp>
      <p:sp>
        <p:nvSpPr>
          <p:cNvPr id="28" name="Text 26"/>
          <p:cNvSpPr/>
          <p:nvPr/>
        </p:nvSpPr>
        <p:spPr>
          <a:xfrm>
            <a:off x="812800" y="47345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West Bengal</a:t>
            </a:r>
            <a:endParaRPr lang="en-US" sz="1400" dirty="0"/>
          </a:p>
        </p:txBody>
      </p:sp>
      <p:sp>
        <p:nvSpPr>
          <p:cNvPr id="29" name="Shape 27"/>
          <p:cNvSpPr/>
          <p:nvPr/>
        </p:nvSpPr>
        <p:spPr>
          <a:xfrm>
            <a:off x="2527300" y="4719241"/>
            <a:ext cx="1708150" cy="279400"/>
          </a:xfrm>
          <a:prstGeom prst="roundRect">
            <a:avLst>
              <a:gd name="adj" fmla="val 13636"/>
            </a:avLst>
          </a:prstGeom>
          <a:solidFill>
            <a:srgbClr val="A9BEC0"/>
          </a:solidFill>
          <a:ln/>
        </p:spPr>
        <p:txBody>
          <a:bodyPr/>
          <a:lstStyle/>
          <a:p>
            <a:endParaRPr lang="en-IN"/>
          </a:p>
        </p:txBody>
      </p:sp>
      <p:sp>
        <p:nvSpPr>
          <p:cNvPr id="30" name="Text 28"/>
          <p:cNvSpPr/>
          <p:nvPr/>
        </p:nvSpPr>
        <p:spPr>
          <a:xfrm>
            <a:off x="4362450" y="4734520"/>
            <a:ext cx="34421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117</a:t>
            </a:r>
            <a:endParaRPr lang="en-US" sz="1400" dirty="0"/>
          </a:p>
        </p:txBody>
      </p:sp>
      <p:sp>
        <p:nvSpPr>
          <p:cNvPr id="31" name="Text 29"/>
          <p:cNvSpPr/>
          <p:nvPr/>
        </p:nvSpPr>
        <p:spPr>
          <a:xfrm>
            <a:off x="812800" y="5090120"/>
            <a:ext cx="16383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Uttar Pradesh</a:t>
            </a:r>
            <a:endParaRPr lang="en-US" sz="1400" dirty="0"/>
          </a:p>
        </p:txBody>
      </p:sp>
      <p:sp>
        <p:nvSpPr>
          <p:cNvPr id="32" name="Shape 30"/>
          <p:cNvSpPr/>
          <p:nvPr/>
        </p:nvSpPr>
        <p:spPr>
          <a:xfrm>
            <a:off x="2527300" y="5074841"/>
            <a:ext cx="1473200" cy="279400"/>
          </a:xfrm>
          <a:prstGeom prst="roundRect">
            <a:avLst>
              <a:gd name="adj" fmla="val 13636"/>
            </a:avLst>
          </a:prstGeom>
          <a:solidFill>
            <a:srgbClr val="A9BEC0"/>
          </a:solidFill>
          <a:ln/>
        </p:spPr>
        <p:txBody>
          <a:bodyPr/>
          <a:lstStyle/>
          <a:p>
            <a:endParaRPr lang="en-IN"/>
          </a:p>
        </p:txBody>
      </p:sp>
      <p:sp>
        <p:nvSpPr>
          <p:cNvPr id="33" name="Text 31"/>
          <p:cNvSpPr/>
          <p:nvPr/>
        </p:nvSpPr>
        <p:spPr>
          <a:xfrm>
            <a:off x="4127500" y="5090120"/>
            <a:ext cx="3559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101</a:t>
            </a:r>
            <a:endParaRPr lang="en-US" sz="1400" dirty="0"/>
          </a:p>
        </p:txBody>
      </p:sp>
      <p:sp>
        <p:nvSpPr>
          <p:cNvPr id="34" name="Shape 32"/>
          <p:cNvSpPr/>
          <p:nvPr/>
        </p:nvSpPr>
        <p:spPr>
          <a:xfrm>
            <a:off x="8585200" y="1874441"/>
            <a:ext cx="2794000" cy="1965821"/>
          </a:xfrm>
          <a:prstGeom prst="roundRect">
            <a:avLst>
              <a:gd name="adj" fmla="val 5168"/>
            </a:avLst>
          </a:prstGeom>
          <a:solidFill>
            <a:srgbClr val="14213D"/>
          </a:solidFill>
          <a:ln/>
        </p:spPr>
        <p:txBody>
          <a:bodyPr/>
          <a:lstStyle/>
          <a:p>
            <a:endParaRPr lang="en-IN"/>
          </a:p>
        </p:txBody>
      </p:sp>
      <p:sp>
        <p:nvSpPr>
          <p:cNvPr id="35" name="Text 33"/>
          <p:cNvSpPr/>
          <p:nvPr/>
        </p:nvSpPr>
        <p:spPr>
          <a:xfrm>
            <a:off x="8839200" y="2128441"/>
            <a:ext cx="2354580"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E9A23B"/>
                </a:solidFill>
                <a:latin typeface="Arial" pitchFamily="34" charset="0"/>
                <a:ea typeface="Arial" pitchFamily="34" charset="-122"/>
                <a:cs typeface="Arial" pitchFamily="34" charset="-120"/>
              </a:rPr>
              <a:t>41%</a:t>
            </a:r>
            <a:endParaRPr lang="en-US" sz="3600" dirty="0"/>
          </a:p>
        </p:txBody>
      </p:sp>
      <p:sp>
        <p:nvSpPr>
          <p:cNvPr id="36" name="Text 34"/>
          <p:cNvSpPr/>
          <p:nvPr/>
        </p:nvSpPr>
        <p:spPr>
          <a:xfrm>
            <a:off x="8839200" y="2732881"/>
            <a:ext cx="2354580"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4EC"/>
                </a:solidFill>
                <a:latin typeface="Arial" pitchFamily="34" charset="0"/>
                <a:ea typeface="Arial" pitchFamily="34" charset="-122"/>
                <a:cs typeface="Arial" pitchFamily="34" charset="-120"/>
              </a:rPr>
              <a:t>of revenue comes from Manipur, Karnataka and Assam.</a:t>
            </a:r>
            <a:endParaRPr lang="en-US" sz="1600" dirty="0"/>
          </a:p>
        </p:txBody>
      </p:sp>
      <p:sp>
        <p:nvSpPr>
          <p:cNvPr id="37" name="Text 35"/>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Arial" pitchFamily="34" charset="0"/>
                <a:ea typeface="Arial" pitchFamily="34" charset="-122"/>
                <a:cs typeface="Arial" pitchFamily="34" charset="-120"/>
              </a:rPr>
              <a:t>Source: MSME Business Performance Analysis workbook</a:t>
            </a:r>
            <a:endParaRPr lang="en-US" sz="1200" dirty="0"/>
          </a:p>
        </p:txBody>
      </p:sp>
      <p:sp>
        <p:nvSpPr>
          <p:cNvPr id="38" name="Text 3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7A"/>
                </a:solidFill>
                <a:latin typeface="Arial" pitchFamily="34" charset="0"/>
                <a:ea typeface="Arial" pitchFamily="34" charset="-122"/>
                <a:cs typeface="Arial" pitchFamily="34" charset="-120"/>
              </a:rPr>
              <a:t>STATE VIEW</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Arial" pitchFamily="34" charset="0"/>
                <a:ea typeface="Arial" pitchFamily="34" charset="-122"/>
                <a:cs typeface="Arial" pitchFamily="34" charset="-120"/>
              </a:rPr>
              <a:t>Growth and margin by state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6341"/>
          <a:ext cx="10553700" cy="3951981"/>
        </p:xfrm>
        <a:graphic>
          <a:graphicData uri="http://schemas.openxmlformats.org/drawingml/2006/table">
            <a:tbl>
              <a:tblPr/>
              <a:tblGrid>
                <a:gridCol w="2955036">
                  <a:extLst>
                    <a:ext uri="{9D8B030D-6E8A-4147-A177-3AD203B41FA5}">
                      <a16:colId xmlns:a16="http://schemas.microsoft.com/office/drawing/2014/main" val="20000"/>
                    </a:ext>
                  </a:extLst>
                </a:gridCol>
                <a:gridCol w="1899666">
                  <a:extLst>
                    <a:ext uri="{9D8B030D-6E8A-4147-A177-3AD203B41FA5}">
                      <a16:colId xmlns:a16="http://schemas.microsoft.com/office/drawing/2014/main" val="20001"/>
                    </a:ext>
                  </a:extLst>
                </a:gridCol>
                <a:gridCol w="1899666">
                  <a:extLst>
                    <a:ext uri="{9D8B030D-6E8A-4147-A177-3AD203B41FA5}">
                      <a16:colId xmlns:a16="http://schemas.microsoft.com/office/drawing/2014/main" val="20002"/>
                    </a:ext>
                  </a:extLst>
                </a:gridCol>
                <a:gridCol w="1899666">
                  <a:extLst>
                    <a:ext uri="{9D8B030D-6E8A-4147-A177-3AD203B41FA5}">
                      <a16:colId xmlns:a16="http://schemas.microsoft.com/office/drawing/2014/main" val="20003"/>
                    </a:ext>
                  </a:extLst>
                </a:gridCol>
                <a:gridCol w="1899666">
                  <a:extLst>
                    <a:ext uri="{9D8B030D-6E8A-4147-A177-3AD203B41FA5}">
                      <a16:colId xmlns:a16="http://schemas.microsoft.com/office/drawing/2014/main" val="20004"/>
                    </a:ext>
                  </a:extLst>
                </a:gridCol>
              </a:tblGrid>
              <a:tr h="359271">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State</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B7B5AF"/>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7B5AF"/>
                      </a:solidFill>
                      <a:prstDash val="solid"/>
                      <a:round/>
                      <a:headEnd type="none" w="med" len="med"/>
                      <a:tailEnd type="none" w="med" len="med"/>
                    </a:lnB>
                    <a:solidFill>
                      <a:srgbClr val="E5E2DB"/>
                    </a:solidFill>
                  </a:tcPr>
                </a:tc>
                <a:tc>
                  <a:txBody>
                    <a:bodyPr/>
                    <a:lstStyle/>
                    <a:p>
                      <a:pPr marL="0" indent="0" algn="r">
                        <a:lnSpc>
                          <a:spcPts val="1820"/>
                        </a:lnSpc>
                        <a:buNone/>
                      </a:pPr>
                      <a:r>
                        <a:rPr lang="en-US" sz="1300" b="1" dirty="0">
                          <a:solidFill>
                            <a:srgbClr val="14213D"/>
                          </a:solidFill>
                          <a:latin typeface="Arial" pitchFamily="34" charset="0"/>
                          <a:ea typeface="Arial" pitchFamily="34" charset="-122"/>
                          <a:cs typeface="Arial" pitchFamily="34" charset="-120"/>
                        </a:rPr>
                        <a:t>Businesses</a:t>
                      </a:r>
                      <a:endParaRPr lang="en-US" sz="1300" dirty="0">
                        <a:latin typeface="Arial" charset="0"/>
                        <a:ea typeface="Arial" charset="0"/>
                        <a:cs typeface="Arial" charset="0"/>
                      </a:endParaRPr>
                    </a:p>
                  </a:txBody>
                  <a:tcPr marL="57785" marR="57785" marT="57785" marB="57785">
                    <a:lnL w="12700" cap="flat" cmpd="sng" algn="ctr">
                      <a:solidFill>
                        <a:srgbClr val="B7B5AF"/>
                      </a:solidFill>
                      <a:prstDash val="solid"/>
                      <a:round/>
                      <a:headEnd type="none" w="med" len="med"/>
                      <a:tailEnd type="none" w="med" len="med"/>
                    </a:lnL>
                    <a:lnR w="12700" cap="flat" cmpd="sng" algn="ctr">
                      <a:solidFill>
                        <a:srgbClr val="B7B5AF"/>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7B5AF"/>
                      </a:solidFill>
                      <a:prstDash val="solid"/>
                      <a:round/>
                      <a:headEnd type="none" w="med" len="med"/>
                      <a:tailEnd type="none" w="med" len="med"/>
                    </a:lnB>
                    <a:solidFill>
                      <a:srgbClr val="E5E2DB"/>
                    </a:solidFill>
                  </a:tcPr>
                </a:tc>
                <a:tc>
                  <a:txBody>
                    <a:bodyPr/>
                    <a:lstStyle/>
                    <a:p>
                      <a:pPr marL="0" indent="0" algn="r">
                        <a:lnSpc>
                          <a:spcPts val="1820"/>
                        </a:lnSpc>
                        <a:buNone/>
                      </a:pPr>
                      <a:r>
                        <a:rPr lang="en-US" sz="1300" b="1" dirty="0">
                          <a:solidFill>
                            <a:srgbClr val="14213D"/>
                          </a:solidFill>
                          <a:latin typeface="Arial" pitchFamily="34" charset="0"/>
                          <a:ea typeface="Arial" pitchFamily="34" charset="-122"/>
                          <a:cs typeface="Arial" pitchFamily="34" charset="-120"/>
                        </a:rPr>
                        <a:t>Revenue (₹ Cr)</a:t>
                      </a:r>
                      <a:endParaRPr lang="en-US" sz="1300" dirty="0">
                        <a:latin typeface="Arial" charset="0"/>
                        <a:ea typeface="Arial" charset="0"/>
                        <a:cs typeface="Arial" charset="0"/>
                      </a:endParaRPr>
                    </a:p>
                  </a:txBody>
                  <a:tcPr marL="57785" marR="57785" marT="57785" marB="57785">
                    <a:lnL w="12700" cap="flat" cmpd="sng" algn="ctr">
                      <a:solidFill>
                        <a:srgbClr val="B7B5AF"/>
                      </a:solidFill>
                      <a:prstDash val="solid"/>
                      <a:round/>
                      <a:headEnd type="none" w="med" len="med"/>
                      <a:tailEnd type="none" w="med" len="med"/>
                    </a:lnL>
                    <a:lnR w="12700" cap="flat" cmpd="sng" algn="ctr">
                      <a:solidFill>
                        <a:srgbClr val="B7B5AF"/>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7B5AF"/>
                      </a:solidFill>
                      <a:prstDash val="solid"/>
                      <a:round/>
                      <a:headEnd type="none" w="med" len="med"/>
                      <a:tailEnd type="none" w="med" len="med"/>
                    </a:lnB>
                    <a:solidFill>
                      <a:srgbClr val="E5E2DB"/>
                    </a:solidFill>
                  </a:tcPr>
                </a:tc>
                <a:tc>
                  <a:txBody>
                    <a:bodyPr/>
                    <a:lstStyle/>
                    <a:p>
                      <a:pPr marL="0" indent="0" algn="r">
                        <a:lnSpc>
                          <a:spcPts val="1820"/>
                        </a:lnSpc>
                        <a:buNone/>
                      </a:pPr>
                      <a:r>
                        <a:rPr lang="en-US" sz="1300" b="1" dirty="0">
                          <a:solidFill>
                            <a:srgbClr val="14213D"/>
                          </a:solidFill>
                          <a:latin typeface="Arial" pitchFamily="34" charset="0"/>
                          <a:ea typeface="Arial" pitchFamily="34" charset="-122"/>
                          <a:cs typeface="Arial" pitchFamily="34" charset="-120"/>
                        </a:rPr>
                        <a:t>Margin</a:t>
                      </a:r>
                      <a:endParaRPr lang="en-US" sz="1300" dirty="0">
                        <a:latin typeface="Arial" charset="0"/>
                        <a:ea typeface="Arial" charset="0"/>
                        <a:cs typeface="Arial" charset="0"/>
                      </a:endParaRPr>
                    </a:p>
                  </a:txBody>
                  <a:tcPr marL="57785" marR="57785" marT="57785" marB="57785">
                    <a:lnL w="12700" cap="flat" cmpd="sng" algn="ctr">
                      <a:solidFill>
                        <a:srgbClr val="B7B5AF"/>
                      </a:solidFill>
                      <a:prstDash val="solid"/>
                      <a:round/>
                      <a:headEnd type="none" w="med" len="med"/>
                      <a:tailEnd type="none" w="med" len="med"/>
                    </a:lnL>
                    <a:lnR w="12700" cap="flat" cmpd="sng" algn="ctr">
                      <a:solidFill>
                        <a:srgbClr val="B7B5AF"/>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7B5AF"/>
                      </a:solidFill>
                      <a:prstDash val="solid"/>
                      <a:round/>
                      <a:headEnd type="none" w="med" len="med"/>
                      <a:tailEnd type="none" w="med" len="med"/>
                    </a:lnB>
                    <a:solidFill>
                      <a:srgbClr val="E5E2DB"/>
                    </a:solidFill>
                  </a:tcPr>
                </a:tc>
                <a:tc>
                  <a:txBody>
                    <a:bodyPr/>
                    <a:lstStyle/>
                    <a:p>
                      <a:pPr marL="0" indent="0" algn="r">
                        <a:lnSpc>
                          <a:spcPts val="1820"/>
                        </a:lnSpc>
                        <a:buNone/>
                      </a:pPr>
                      <a:r>
                        <a:rPr lang="en-US" sz="1300" b="1" dirty="0">
                          <a:solidFill>
                            <a:srgbClr val="14213D"/>
                          </a:solidFill>
                          <a:latin typeface="Arial" pitchFamily="34" charset="0"/>
                          <a:ea typeface="Arial" pitchFamily="34" charset="-122"/>
                          <a:cs typeface="Arial" pitchFamily="34" charset="-120"/>
                        </a:rPr>
                        <a:t>Avg growth</a:t>
                      </a:r>
                      <a:endParaRPr lang="en-US" sz="1300" dirty="0">
                        <a:latin typeface="Arial" charset="0"/>
                        <a:ea typeface="Arial" charset="0"/>
                        <a:cs typeface="Arial" charset="0"/>
                      </a:endParaRPr>
                    </a:p>
                  </a:txBody>
                  <a:tcPr marL="57785" marR="57785" marT="57785" marB="57785">
                    <a:lnL w="12700" cap="flat" cmpd="sng" algn="ctr">
                      <a:solidFill>
                        <a:srgbClr val="B7B5AF"/>
                      </a:solidFill>
                      <a:prstDash val="solid"/>
                      <a:round/>
                      <a:headEnd type="none" w="med" len="med"/>
                      <a:tailEnd type="none" w="med" len="med"/>
                    </a:lnL>
                    <a:lnR w="12700" cap="flat" cmpd="sng" algn="ctr">
                      <a:solidFill>
                        <a:srgbClr val="B7B5AF"/>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7B5AF"/>
                      </a:solidFill>
                      <a:prstDash val="solid"/>
                      <a:round/>
                      <a:headEnd type="none" w="med" len="med"/>
                      <a:tailEnd type="none" w="med" len="med"/>
                    </a:lnB>
                    <a:solidFill>
                      <a:srgbClr val="E5E2DB"/>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Uttar Pradesh</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7B5AF"/>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20</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7B5AF"/>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101</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7B5AF"/>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32.5%</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7B5AF"/>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20.9%</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7B5AF"/>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Gujarat</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32</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179</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26.0%</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16.3%</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Telangana</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32</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213</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29.8%</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13.0%</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Manipur</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31</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264</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27.9%</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12.6%</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Maharashtra</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26</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159</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27.5%</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11.9%</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Tamil Nadu</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27</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162</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26.1%</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11.5%</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West Bengal</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23</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117</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23.8%</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11.3%</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Assam</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38</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229</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29.0%</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10.8%</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8"/>
                  </a:ext>
                </a:extLst>
              </a:tr>
              <a:tr h="35927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Karnataka</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38</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261</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26.8%</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9"/>
                  </a:ext>
                </a:extLst>
              </a:tr>
              <a:tr h="35927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Odisha</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33</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157</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29.4%</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Arial" pitchFamily="34" charset="0"/>
                          <a:ea typeface="Arial" pitchFamily="34" charset="-122"/>
                          <a:cs typeface="Arial" pitchFamily="34" charset="-120"/>
                        </a:rPr>
                        <a:t>6.1%</a:t>
                      </a:r>
                      <a:endParaRPr lang="en-US" sz="1300" dirty="0">
                        <a:latin typeface="Arial" charset="0"/>
                        <a:ea typeface="Arial" charset="0"/>
                        <a:cs typeface="Arial"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5" name="Text 2"/>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Arial" pitchFamily="34" charset="0"/>
                <a:ea typeface="Arial" pitchFamily="34" charset="-122"/>
                <a:cs typeface="Arial" pitchFamily="34" charset="-120"/>
              </a:rPr>
              <a:t>Source: MSME Business Performance Analysis workbook · sorted by average YoY growth</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7A"/>
                </a:solidFill>
                <a:latin typeface="Arial" pitchFamily="34" charset="0"/>
                <a:ea typeface="Arial" pitchFamily="34" charset="-122"/>
                <a:cs typeface="Arial" pitchFamily="34" charset="-120"/>
              </a:rPr>
              <a:t>GOVERNMENT SCHEMES</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Arial" pitchFamily="34" charset="0"/>
                <a:ea typeface="Arial" pitchFamily="34" charset="-122"/>
                <a:cs typeface="Arial" pitchFamily="34" charset="-120"/>
              </a:rPr>
              <a:t>Application status by scheme</a:t>
            </a:r>
            <a:endParaRPr lang="en-US" sz="3200" dirty="0"/>
          </a:p>
        </p:txBody>
      </p:sp>
      <p:sp>
        <p:nvSpPr>
          <p:cNvPr id="4" name="Shape 2"/>
          <p:cNvSpPr/>
          <p:nvPr/>
        </p:nvSpPr>
        <p:spPr>
          <a:xfrm>
            <a:off x="812800" y="1841401"/>
            <a:ext cx="177800" cy="177800"/>
          </a:xfrm>
          <a:prstGeom prst="roundRect">
            <a:avLst>
              <a:gd name="adj" fmla="val 14286"/>
            </a:avLst>
          </a:prstGeom>
          <a:solidFill>
            <a:srgbClr val="1F7A7A"/>
          </a:solidFill>
          <a:ln/>
        </p:spPr>
        <p:txBody>
          <a:bodyPr/>
          <a:lstStyle/>
          <a:p>
            <a:endParaRPr lang="en-IN"/>
          </a:p>
        </p:txBody>
      </p:sp>
      <p:sp>
        <p:nvSpPr>
          <p:cNvPr id="5" name="Text 3"/>
          <p:cNvSpPr/>
          <p:nvPr/>
        </p:nvSpPr>
        <p:spPr>
          <a:xfrm>
            <a:off x="1066800" y="1823641"/>
            <a:ext cx="7829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Approved</a:t>
            </a:r>
            <a:endParaRPr lang="en-US" sz="1200" dirty="0"/>
          </a:p>
        </p:txBody>
      </p:sp>
      <p:sp>
        <p:nvSpPr>
          <p:cNvPr id="6" name="Shape 4"/>
          <p:cNvSpPr/>
          <p:nvPr/>
        </p:nvSpPr>
        <p:spPr>
          <a:xfrm>
            <a:off x="1973263" y="1841401"/>
            <a:ext cx="177800" cy="177800"/>
          </a:xfrm>
          <a:prstGeom prst="roundRect">
            <a:avLst>
              <a:gd name="adj" fmla="val 14286"/>
            </a:avLst>
          </a:prstGeom>
          <a:solidFill>
            <a:srgbClr val="E9A23B"/>
          </a:solidFill>
          <a:ln/>
        </p:spPr>
        <p:txBody>
          <a:bodyPr/>
          <a:lstStyle/>
          <a:p>
            <a:endParaRPr lang="en-IN"/>
          </a:p>
        </p:txBody>
      </p:sp>
      <p:sp>
        <p:nvSpPr>
          <p:cNvPr id="7" name="Text 5"/>
          <p:cNvSpPr/>
          <p:nvPr/>
        </p:nvSpPr>
        <p:spPr>
          <a:xfrm>
            <a:off x="2227263" y="1823641"/>
            <a:ext cx="1077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Under review</a:t>
            </a:r>
            <a:endParaRPr lang="en-US" sz="1200" dirty="0"/>
          </a:p>
        </p:txBody>
      </p:sp>
      <p:sp>
        <p:nvSpPr>
          <p:cNvPr id="8" name="Shape 6"/>
          <p:cNvSpPr/>
          <p:nvPr/>
        </p:nvSpPr>
        <p:spPr>
          <a:xfrm>
            <a:off x="3379093" y="1841401"/>
            <a:ext cx="177800" cy="177800"/>
          </a:xfrm>
          <a:prstGeom prst="roundRect">
            <a:avLst>
              <a:gd name="adj" fmla="val 14286"/>
            </a:avLst>
          </a:prstGeom>
          <a:solidFill>
            <a:srgbClr val="A9BEC0"/>
          </a:solidFill>
          <a:ln/>
        </p:spPr>
        <p:txBody>
          <a:bodyPr/>
          <a:lstStyle/>
          <a:p>
            <a:endParaRPr lang="en-IN"/>
          </a:p>
        </p:txBody>
      </p:sp>
      <p:sp>
        <p:nvSpPr>
          <p:cNvPr id="9" name="Text 7"/>
          <p:cNvSpPr/>
          <p:nvPr/>
        </p:nvSpPr>
        <p:spPr>
          <a:xfrm>
            <a:off x="3633093" y="1823641"/>
            <a:ext cx="6711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Pending</a:t>
            </a:r>
            <a:endParaRPr lang="en-US" sz="1200" dirty="0"/>
          </a:p>
        </p:txBody>
      </p:sp>
      <p:sp>
        <p:nvSpPr>
          <p:cNvPr id="10" name="Shape 8"/>
          <p:cNvSpPr/>
          <p:nvPr/>
        </p:nvSpPr>
        <p:spPr>
          <a:xfrm>
            <a:off x="4446389" y="1841401"/>
            <a:ext cx="177800" cy="177800"/>
          </a:xfrm>
          <a:prstGeom prst="roundRect">
            <a:avLst>
              <a:gd name="adj" fmla="val 14286"/>
            </a:avLst>
          </a:prstGeom>
          <a:solidFill>
            <a:srgbClr val="14213D"/>
          </a:solidFill>
          <a:ln/>
        </p:spPr>
        <p:txBody>
          <a:bodyPr/>
          <a:lstStyle/>
          <a:p>
            <a:endParaRPr lang="en-IN"/>
          </a:p>
        </p:txBody>
      </p:sp>
      <p:sp>
        <p:nvSpPr>
          <p:cNvPr id="11" name="Text 9"/>
          <p:cNvSpPr/>
          <p:nvPr/>
        </p:nvSpPr>
        <p:spPr>
          <a:xfrm>
            <a:off x="4700389" y="1823641"/>
            <a:ext cx="7218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Rejected</a:t>
            </a:r>
            <a:endParaRPr lang="en-US" sz="1200" dirty="0"/>
          </a:p>
        </p:txBody>
      </p:sp>
      <p:sp>
        <p:nvSpPr>
          <p:cNvPr id="12" name="Text 10"/>
          <p:cNvSpPr/>
          <p:nvPr/>
        </p:nvSpPr>
        <p:spPr>
          <a:xfrm>
            <a:off x="812800" y="2344341"/>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Credit Support</a:t>
            </a:r>
            <a:endParaRPr lang="en-US" sz="1400" dirty="0"/>
          </a:p>
        </p:txBody>
      </p:sp>
      <p:sp>
        <p:nvSpPr>
          <p:cNvPr id="13" name="Text 11"/>
          <p:cNvSpPr/>
          <p:nvPr/>
        </p:nvSpPr>
        <p:spPr>
          <a:xfrm>
            <a:off x="3098800" y="2290961"/>
            <a:ext cx="2667000" cy="355600"/>
          </a:xfrm>
          <a:prstGeom prst="rect">
            <a:avLst/>
          </a:prstGeom>
          <a:solidFill>
            <a:srgbClr val="1F7A7A"/>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Arial" pitchFamily="34" charset="0"/>
                <a:ea typeface="Arial" pitchFamily="34" charset="-122"/>
                <a:cs typeface="Arial" pitchFamily="34" charset="-120"/>
              </a:rPr>
              <a:t>30</a:t>
            </a:r>
            <a:endParaRPr lang="en-US" sz="1200" dirty="0"/>
          </a:p>
        </p:txBody>
      </p:sp>
      <p:sp>
        <p:nvSpPr>
          <p:cNvPr id="14" name="Text 12"/>
          <p:cNvSpPr/>
          <p:nvPr/>
        </p:nvSpPr>
        <p:spPr>
          <a:xfrm>
            <a:off x="5765800" y="2290961"/>
            <a:ext cx="1155700" cy="355600"/>
          </a:xfrm>
          <a:prstGeom prst="rect">
            <a:avLst/>
          </a:prstGeom>
          <a:solidFill>
            <a:srgbClr val="E9A23B"/>
          </a:solidFill>
          <a:ln/>
        </p:spPr>
        <p:txBody>
          <a:bodyPr wrap="square" lIns="0" tIns="0" rIns="0" bIns="0" rtlCol="0" anchor="ctr">
            <a:normAutofit/>
          </a:bodyPr>
          <a:lstStyle/>
          <a:p>
            <a:pPr marL="0" indent="0" algn="ctr">
              <a:lnSpc>
                <a:spcPts val="1680"/>
              </a:lnSpc>
              <a:buNone/>
            </a:pPr>
            <a:r>
              <a:rPr lang="en-US" sz="1200" b="1" dirty="0">
                <a:solidFill>
                  <a:srgbClr val="14213D"/>
                </a:solidFill>
                <a:latin typeface="Arial" pitchFamily="34" charset="0"/>
                <a:ea typeface="Arial" pitchFamily="34" charset="-122"/>
                <a:cs typeface="Arial" pitchFamily="34" charset="-120"/>
              </a:rPr>
              <a:t>13</a:t>
            </a:r>
            <a:endParaRPr lang="en-US" sz="1200" dirty="0"/>
          </a:p>
        </p:txBody>
      </p:sp>
      <p:sp>
        <p:nvSpPr>
          <p:cNvPr id="15" name="Text 13"/>
          <p:cNvSpPr/>
          <p:nvPr/>
        </p:nvSpPr>
        <p:spPr>
          <a:xfrm>
            <a:off x="6921500" y="2290961"/>
            <a:ext cx="533400" cy="355600"/>
          </a:xfrm>
          <a:prstGeom prst="rect">
            <a:avLst/>
          </a:prstGeom>
          <a:solidFill>
            <a:srgbClr val="A9BEC0"/>
          </a:solidFill>
          <a:ln/>
        </p:spPr>
        <p:txBody>
          <a:bodyPr wrap="square" lIns="0" tIns="0" rIns="0" bIns="0" rtlCol="0" anchor="ctr">
            <a:normAutofit/>
          </a:bodyPr>
          <a:lstStyle/>
          <a:p>
            <a:pPr marL="0" indent="0" algn="ctr">
              <a:lnSpc>
                <a:spcPts val="1680"/>
              </a:lnSpc>
              <a:buNone/>
            </a:pPr>
            <a:r>
              <a:rPr lang="en-US" sz="1200" b="1" dirty="0">
                <a:solidFill>
                  <a:srgbClr val="14213D"/>
                </a:solidFill>
                <a:latin typeface="Arial" pitchFamily="34" charset="0"/>
                <a:ea typeface="Arial" pitchFamily="34" charset="-122"/>
                <a:cs typeface="Arial" pitchFamily="34" charset="-120"/>
              </a:rPr>
              <a:t>6</a:t>
            </a:r>
            <a:endParaRPr lang="en-US" sz="1200" dirty="0"/>
          </a:p>
        </p:txBody>
      </p:sp>
      <p:sp>
        <p:nvSpPr>
          <p:cNvPr id="16" name="Text 14"/>
          <p:cNvSpPr/>
          <p:nvPr/>
        </p:nvSpPr>
        <p:spPr>
          <a:xfrm>
            <a:off x="7454900" y="2290961"/>
            <a:ext cx="711200" cy="355600"/>
          </a:xfrm>
          <a:prstGeom prst="rect">
            <a:avLst/>
          </a:prstGeom>
          <a:solidFill>
            <a:srgbClr val="14213D"/>
          </a:solidFill>
          <a:ln/>
        </p:spPr>
        <p:txBody>
          <a:bodyPr wrap="square" lIns="0" tIns="0" rIns="0" bIns="0" rtlCol="0" anchor="ctr">
            <a:normAutofit/>
          </a:bodyPr>
          <a:lstStyle/>
          <a:p>
            <a:pPr marL="0" indent="0" algn="ctr">
              <a:lnSpc>
                <a:spcPts val="1680"/>
              </a:lnSpc>
              <a:buNone/>
            </a:pPr>
            <a:r>
              <a:rPr lang="en-US" sz="1200" b="1" dirty="0">
                <a:solidFill>
                  <a:srgbClr val="F7F4EC"/>
                </a:solidFill>
                <a:latin typeface="Arial" pitchFamily="34" charset="0"/>
                <a:ea typeface="Arial" pitchFamily="34" charset="-122"/>
                <a:cs typeface="Arial" pitchFamily="34" charset="-120"/>
              </a:rPr>
              <a:t>8</a:t>
            </a:r>
            <a:endParaRPr lang="en-US" sz="1200" dirty="0"/>
          </a:p>
        </p:txBody>
      </p:sp>
      <p:sp>
        <p:nvSpPr>
          <p:cNvPr id="17" name="Text 15"/>
          <p:cNvSpPr/>
          <p:nvPr/>
        </p:nvSpPr>
        <p:spPr>
          <a:xfrm>
            <a:off x="8242300" y="2344341"/>
            <a:ext cx="939800" cy="2742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53%</a:t>
            </a:r>
            <a:endParaRPr lang="en-US" sz="1400" dirty="0"/>
          </a:p>
        </p:txBody>
      </p:sp>
      <p:sp>
        <p:nvSpPr>
          <p:cNvPr id="18" name="Text 16"/>
          <p:cNvSpPr/>
          <p:nvPr/>
        </p:nvSpPr>
        <p:spPr>
          <a:xfrm>
            <a:off x="812800" y="2814241"/>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Export Assistance</a:t>
            </a:r>
            <a:endParaRPr lang="en-US" sz="1400" dirty="0"/>
          </a:p>
        </p:txBody>
      </p:sp>
      <p:sp>
        <p:nvSpPr>
          <p:cNvPr id="19" name="Text 17"/>
          <p:cNvSpPr/>
          <p:nvPr/>
        </p:nvSpPr>
        <p:spPr>
          <a:xfrm>
            <a:off x="3098800" y="2760861"/>
            <a:ext cx="3200400" cy="355600"/>
          </a:xfrm>
          <a:prstGeom prst="rect">
            <a:avLst/>
          </a:prstGeom>
          <a:solidFill>
            <a:srgbClr val="1F7A7A"/>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Arial" pitchFamily="34" charset="0"/>
                <a:ea typeface="Arial" pitchFamily="34" charset="-122"/>
                <a:cs typeface="Arial" pitchFamily="34" charset="-120"/>
              </a:rPr>
              <a:t>36</a:t>
            </a:r>
            <a:endParaRPr lang="en-US" sz="1200" dirty="0"/>
          </a:p>
        </p:txBody>
      </p:sp>
      <p:sp>
        <p:nvSpPr>
          <p:cNvPr id="20" name="Text 18"/>
          <p:cNvSpPr/>
          <p:nvPr/>
        </p:nvSpPr>
        <p:spPr>
          <a:xfrm>
            <a:off x="6299200" y="2760861"/>
            <a:ext cx="533400" cy="355600"/>
          </a:xfrm>
          <a:prstGeom prst="rect">
            <a:avLst/>
          </a:prstGeom>
          <a:solidFill>
            <a:srgbClr val="E9A23B"/>
          </a:solidFill>
          <a:ln/>
        </p:spPr>
        <p:txBody>
          <a:bodyPr wrap="square" lIns="0" tIns="0" rIns="0" bIns="0" rtlCol="0" anchor="ctr">
            <a:normAutofit/>
          </a:bodyPr>
          <a:lstStyle/>
          <a:p>
            <a:pPr marL="0" indent="0" algn="ctr">
              <a:lnSpc>
                <a:spcPts val="1680"/>
              </a:lnSpc>
              <a:buNone/>
            </a:pPr>
            <a:r>
              <a:rPr lang="en-US" sz="1200" b="1" dirty="0">
                <a:solidFill>
                  <a:srgbClr val="14213D"/>
                </a:solidFill>
                <a:latin typeface="Arial" pitchFamily="34" charset="0"/>
                <a:ea typeface="Arial" pitchFamily="34" charset="-122"/>
                <a:cs typeface="Arial" pitchFamily="34" charset="-120"/>
              </a:rPr>
              <a:t>6</a:t>
            </a:r>
            <a:endParaRPr lang="en-US" sz="1200" dirty="0"/>
          </a:p>
        </p:txBody>
      </p:sp>
      <p:sp>
        <p:nvSpPr>
          <p:cNvPr id="21" name="Text 19"/>
          <p:cNvSpPr/>
          <p:nvPr/>
        </p:nvSpPr>
        <p:spPr>
          <a:xfrm>
            <a:off x="6832600" y="2760861"/>
            <a:ext cx="800100" cy="355600"/>
          </a:xfrm>
          <a:prstGeom prst="rect">
            <a:avLst/>
          </a:prstGeom>
          <a:solidFill>
            <a:srgbClr val="A9BEC0"/>
          </a:solidFill>
          <a:ln/>
        </p:spPr>
        <p:txBody>
          <a:bodyPr wrap="square" lIns="0" tIns="0" rIns="0" bIns="0" rtlCol="0" anchor="ctr">
            <a:normAutofit/>
          </a:bodyPr>
          <a:lstStyle/>
          <a:p>
            <a:pPr marL="0" indent="0" algn="ctr">
              <a:lnSpc>
                <a:spcPts val="1680"/>
              </a:lnSpc>
              <a:buNone/>
            </a:pPr>
            <a:r>
              <a:rPr lang="en-US" sz="1200" b="1" dirty="0">
                <a:solidFill>
                  <a:srgbClr val="14213D"/>
                </a:solidFill>
                <a:latin typeface="Arial" pitchFamily="34" charset="0"/>
                <a:ea typeface="Arial" pitchFamily="34" charset="-122"/>
                <a:cs typeface="Arial" pitchFamily="34" charset="-120"/>
              </a:rPr>
              <a:t>9</a:t>
            </a:r>
            <a:endParaRPr lang="en-US" sz="1200" dirty="0"/>
          </a:p>
        </p:txBody>
      </p:sp>
      <p:sp>
        <p:nvSpPr>
          <p:cNvPr id="22" name="Text 20"/>
          <p:cNvSpPr/>
          <p:nvPr/>
        </p:nvSpPr>
        <p:spPr>
          <a:xfrm>
            <a:off x="7632700" y="2760861"/>
            <a:ext cx="800100" cy="355600"/>
          </a:xfrm>
          <a:prstGeom prst="rect">
            <a:avLst/>
          </a:prstGeom>
          <a:solidFill>
            <a:srgbClr val="14213D"/>
          </a:solidFill>
          <a:ln/>
        </p:spPr>
        <p:txBody>
          <a:bodyPr wrap="square" lIns="0" tIns="0" rIns="0" bIns="0" rtlCol="0" anchor="ctr">
            <a:normAutofit/>
          </a:bodyPr>
          <a:lstStyle/>
          <a:p>
            <a:pPr marL="0" indent="0" algn="ctr">
              <a:lnSpc>
                <a:spcPts val="1680"/>
              </a:lnSpc>
              <a:buNone/>
            </a:pPr>
            <a:r>
              <a:rPr lang="en-US" sz="1200" b="1" dirty="0">
                <a:solidFill>
                  <a:srgbClr val="F7F4EC"/>
                </a:solidFill>
                <a:latin typeface="Arial" pitchFamily="34" charset="0"/>
                <a:ea typeface="Arial" pitchFamily="34" charset="-122"/>
                <a:cs typeface="Arial" pitchFamily="34" charset="-120"/>
              </a:rPr>
              <a:t>9</a:t>
            </a:r>
            <a:endParaRPr lang="en-US" sz="1200" dirty="0"/>
          </a:p>
        </p:txBody>
      </p:sp>
      <p:sp>
        <p:nvSpPr>
          <p:cNvPr id="23" name="Text 21"/>
          <p:cNvSpPr/>
          <p:nvPr/>
        </p:nvSpPr>
        <p:spPr>
          <a:xfrm>
            <a:off x="8509000" y="2814241"/>
            <a:ext cx="939800" cy="2742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60%</a:t>
            </a:r>
            <a:endParaRPr lang="en-US" sz="1400" dirty="0"/>
          </a:p>
        </p:txBody>
      </p:sp>
      <p:sp>
        <p:nvSpPr>
          <p:cNvPr id="24" name="Text 22"/>
          <p:cNvSpPr/>
          <p:nvPr/>
        </p:nvSpPr>
        <p:spPr>
          <a:xfrm>
            <a:off x="812800" y="3284141"/>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Market Access</a:t>
            </a:r>
            <a:endParaRPr lang="en-US" sz="1400" dirty="0"/>
          </a:p>
        </p:txBody>
      </p:sp>
      <p:sp>
        <p:nvSpPr>
          <p:cNvPr id="25" name="Text 23"/>
          <p:cNvSpPr/>
          <p:nvPr/>
        </p:nvSpPr>
        <p:spPr>
          <a:xfrm>
            <a:off x="3098800" y="3230761"/>
            <a:ext cx="3556000" cy="355600"/>
          </a:xfrm>
          <a:prstGeom prst="rect">
            <a:avLst/>
          </a:prstGeom>
          <a:solidFill>
            <a:srgbClr val="1F7A7A"/>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Arial" pitchFamily="34" charset="0"/>
                <a:ea typeface="Arial" pitchFamily="34" charset="-122"/>
                <a:cs typeface="Arial" pitchFamily="34" charset="-120"/>
              </a:rPr>
              <a:t>40</a:t>
            </a:r>
            <a:endParaRPr lang="en-US" sz="1200" dirty="0"/>
          </a:p>
        </p:txBody>
      </p:sp>
      <p:sp>
        <p:nvSpPr>
          <p:cNvPr id="26" name="Text 24"/>
          <p:cNvSpPr/>
          <p:nvPr/>
        </p:nvSpPr>
        <p:spPr>
          <a:xfrm>
            <a:off x="6654800" y="3230761"/>
            <a:ext cx="622300" cy="355600"/>
          </a:xfrm>
          <a:prstGeom prst="rect">
            <a:avLst/>
          </a:prstGeom>
          <a:solidFill>
            <a:srgbClr val="E9A23B"/>
          </a:solidFill>
          <a:ln/>
        </p:spPr>
        <p:txBody>
          <a:bodyPr wrap="square" lIns="0" tIns="0" rIns="0" bIns="0" rtlCol="0" anchor="ctr">
            <a:normAutofit/>
          </a:bodyPr>
          <a:lstStyle/>
          <a:p>
            <a:pPr marL="0" indent="0" algn="ctr">
              <a:lnSpc>
                <a:spcPts val="1680"/>
              </a:lnSpc>
              <a:buNone/>
            </a:pPr>
            <a:r>
              <a:rPr lang="en-US" sz="1200" b="1" dirty="0">
                <a:solidFill>
                  <a:srgbClr val="14213D"/>
                </a:solidFill>
                <a:latin typeface="Arial" pitchFamily="34" charset="0"/>
                <a:ea typeface="Arial" pitchFamily="34" charset="-122"/>
                <a:cs typeface="Arial" pitchFamily="34" charset="-120"/>
              </a:rPr>
              <a:t>7</a:t>
            </a:r>
            <a:endParaRPr lang="en-US" sz="1200" dirty="0"/>
          </a:p>
        </p:txBody>
      </p:sp>
      <p:sp>
        <p:nvSpPr>
          <p:cNvPr id="27" name="Text 25"/>
          <p:cNvSpPr/>
          <p:nvPr/>
        </p:nvSpPr>
        <p:spPr>
          <a:xfrm>
            <a:off x="7277100" y="3230761"/>
            <a:ext cx="1066800" cy="355600"/>
          </a:xfrm>
          <a:prstGeom prst="rect">
            <a:avLst/>
          </a:prstGeom>
          <a:solidFill>
            <a:srgbClr val="A9BEC0"/>
          </a:solidFill>
          <a:ln/>
        </p:spPr>
        <p:txBody>
          <a:bodyPr wrap="square" lIns="0" tIns="0" rIns="0" bIns="0" rtlCol="0" anchor="ctr">
            <a:normAutofit/>
          </a:bodyPr>
          <a:lstStyle/>
          <a:p>
            <a:pPr marL="0" indent="0" algn="ctr">
              <a:lnSpc>
                <a:spcPts val="1680"/>
              </a:lnSpc>
              <a:buNone/>
            </a:pPr>
            <a:r>
              <a:rPr lang="en-US" sz="1200" b="1" dirty="0">
                <a:solidFill>
                  <a:srgbClr val="14213D"/>
                </a:solidFill>
                <a:latin typeface="Arial" pitchFamily="34" charset="0"/>
                <a:ea typeface="Arial" pitchFamily="34" charset="-122"/>
                <a:cs typeface="Arial" pitchFamily="34" charset="-120"/>
              </a:rPr>
              <a:t>12</a:t>
            </a:r>
            <a:endParaRPr lang="en-US" sz="1200" dirty="0"/>
          </a:p>
        </p:txBody>
      </p:sp>
      <p:sp>
        <p:nvSpPr>
          <p:cNvPr id="28" name="Text 26"/>
          <p:cNvSpPr/>
          <p:nvPr/>
        </p:nvSpPr>
        <p:spPr>
          <a:xfrm>
            <a:off x="8343900" y="3230761"/>
            <a:ext cx="622300" cy="355600"/>
          </a:xfrm>
          <a:prstGeom prst="rect">
            <a:avLst/>
          </a:prstGeom>
          <a:solidFill>
            <a:srgbClr val="14213D"/>
          </a:solidFill>
          <a:ln/>
        </p:spPr>
        <p:txBody>
          <a:bodyPr wrap="square" lIns="0" tIns="0" rIns="0" bIns="0" rtlCol="0" anchor="ctr">
            <a:normAutofit/>
          </a:bodyPr>
          <a:lstStyle/>
          <a:p>
            <a:pPr marL="0" indent="0" algn="ctr">
              <a:lnSpc>
                <a:spcPts val="1680"/>
              </a:lnSpc>
              <a:buNone/>
            </a:pPr>
            <a:r>
              <a:rPr lang="en-US" sz="1200" b="1" dirty="0">
                <a:solidFill>
                  <a:srgbClr val="F7F4EC"/>
                </a:solidFill>
                <a:latin typeface="Arial" pitchFamily="34" charset="0"/>
                <a:ea typeface="Arial" pitchFamily="34" charset="-122"/>
                <a:cs typeface="Arial" pitchFamily="34" charset="-120"/>
              </a:rPr>
              <a:t>7</a:t>
            </a:r>
            <a:endParaRPr lang="en-US" sz="1200" dirty="0"/>
          </a:p>
        </p:txBody>
      </p:sp>
      <p:sp>
        <p:nvSpPr>
          <p:cNvPr id="29" name="Text 27"/>
          <p:cNvSpPr/>
          <p:nvPr/>
        </p:nvSpPr>
        <p:spPr>
          <a:xfrm>
            <a:off x="9042400" y="3284141"/>
            <a:ext cx="939800" cy="2742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61%</a:t>
            </a:r>
            <a:endParaRPr lang="en-US" sz="1400" dirty="0"/>
          </a:p>
        </p:txBody>
      </p:sp>
      <p:sp>
        <p:nvSpPr>
          <p:cNvPr id="30" name="Text 28"/>
          <p:cNvSpPr/>
          <p:nvPr/>
        </p:nvSpPr>
        <p:spPr>
          <a:xfrm>
            <a:off x="812800" y="3754041"/>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Skill Development</a:t>
            </a:r>
            <a:endParaRPr lang="en-US" sz="1400" dirty="0"/>
          </a:p>
        </p:txBody>
      </p:sp>
      <p:sp>
        <p:nvSpPr>
          <p:cNvPr id="31" name="Text 29"/>
          <p:cNvSpPr/>
          <p:nvPr/>
        </p:nvSpPr>
        <p:spPr>
          <a:xfrm>
            <a:off x="3098800" y="3700661"/>
            <a:ext cx="2311400" cy="355600"/>
          </a:xfrm>
          <a:prstGeom prst="rect">
            <a:avLst/>
          </a:prstGeom>
          <a:solidFill>
            <a:srgbClr val="1F7A7A"/>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Arial" pitchFamily="34" charset="0"/>
                <a:ea typeface="Arial" pitchFamily="34" charset="-122"/>
                <a:cs typeface="Arial" pitchFamily="34" charset="-120"/>
              </a:rPr>
              <a:t>26</a:t>
            </a:r>
            <a:endParaRPr lang="en-US" sz="1200" dirty="0"/>
          </a:p>
        </p:txBody>
      </p:sp>
      <p:sp>
        <p:nvSpPr>
          <p:cNvPr id="32" name="Text 30"/>
          <p:cNvSpPr/>
          <p:nvPr/>
        </p:nvSpPr>
        <p:spPr>
          <a:xfrm>
            <a:off x="5410200" y="3700661"/>
            <a:ext cx="1066800" cy="355600"/>
          </a:xfrm>
          <a:prstGeom prst="rect">
            <a:avLst/>
          </a:prstGeom>
          <a:solidFill>
            <a:srgbClr val="E9A23B"/>
          </a:solidFill>
          <a:ln/>
        </p:spPr>
        <p:txBody>
          <a:bodyPr wrap="square" lIns="0" tIns="0" rIns="0" bIns="0" rtlCol="0" anchor="ctr">
            <a:normAutofit/>
          </a:bodyPr>
          <a:lstStyle/>
          <a:p>
            <a:pPr marL="0" indent="0" algn="ctr">
              <a:lnSpc>
                <a:spcPts val="1680"/>
              </a:lnSpc>
              <a:buNone/>
            </a:pPr>
            <a:r>
              <a:rPr lang="en-US" sz="1200" b="1" dirty="0">
                <a:solidFill>
                  <a:srgbClr val="14213D"/>
                </a:solidFill>
                <a:latin typeface="Arial" pitchFamily="34" charset="0"/>
                <a:ea typeface="Arial" pitchFamily="34" charset="-122"/>
                <a:cs typeface="Arial" pitchFamily="34" charset="-120"/>
              </a:rPr>
              <a:t>12</a:t>
            </a:r>
            <a:endParaRPr lang="en-US" sz="1200" dirty="0"/>
          </a:p>
        </p:txBody>
      </p:sp>
      <p:sp>
        <p:nvSpPr>
          <p:cNvPr id="33" name="Text 31"/>
          <p:cNvSpPr/>
          <p:nvPr/>
        </p:nvSpPr>
        <p:spPr>
          <a:xfrm>
            <a:off x="6477000" y="3700661"/>
            <a:ext cx="1155700" cy="355600"/>
          </a:xfrm>
          <a:prstGeom prst="rect">
            <a:avLst/>
          </a:prstGeom>
          <a:solidFill>
            <a:srgbClr val="A9BEC0"/>
          </a:solidFill>
          <a:ln/>
        </p:spPr>
        <p:txBody>
          <a:bodyPr wrap="square" lIns="0" tIns="0" rIns="0" bIns="0" rtlCol="0" anchor="ctr">
            <a:normAutofit/>
          </a:bodyPr>
          <a:lstStyle/>
          <a:p>
            <a:pPr marL="0" indent="0" algn="ctr">
              <a:lnSpc>
                <a:spcPts val="1680"/>
              </a:lnSpc>
              <a:buNone/>
            </a:pPr>
            <a:r>
              <a:rPr lang="en-US" sz="1200" b="1" dirty="0">
                <a:solidFill>
                  <a:srgbClr val="14213D"/>
                </a:solidFill>
                <a:latin typeface="Arial" pitchFamily="34" charset="0"/>
                <a:ea typeface="Arial" pitchFamily="34" charset="-122"/>
                <a:cs typeface="Arial" pitchFamily="34" charset="-120"/>
              </a:rPr>
              <a:t>13</a:t>
            </a:r>
            <a:endParaRPr lang="en-US" sz="1200" dirty="0"/>
          </a:p>
        </p:txBody>
      </p:sp>
      <p:sp>
        <p:nvSpPr>
          <p:cNvPr id="34" name="Text 32"/>
          <p:cNvSpPr/>
          <p:nvPr/>
        </p:nvSpPr>
        <p:spPr>
          <a:xfrm>
            <a:off x="7632700" y="3700661"/>
            <a:ext cx="533400" cy="355600"/>
          </a:xfrm>
          <a:prstGeom prst="rect">
            <a:avLst/>
          </a:prstGeom>
          <a:solidFill>
            <a:srgbClr val="14213D"/>
          </a:solidFill>
          <a:ln/>
        </p:spPr>
        <p:txBody>
          <a:bodyPr wrap="square" lIns="0" tIns="0" rIns="0" bIns="0" rtlCol="0" anchor="ctr">
            <a:normAutofit/>
          </a:bodyPr>
          <a:lstStyle/>
          <a:p>
            <a:pPr marL="0" indent="0" algn="ctr">
              <a:lnSpc>
                <a:spcPts val="1680"/>
              </a:lnSpc>
              <a:buNone/>
            </a:pPr>
            <a:r>
              <a:rPr lang="en-US" sz="1200" b="1" dirty="0">
                <a:solidFill>
                  <a:srgbClr val="F7F4EC"/>
                </a:solidFill>
                <a:latin typeface="Arial" pitchFamily="34" charset="0"/>
                <a:ea typeface="Arial" pitchFamily="34" charset="-122"/>
                <a:cs typeface="Arial" pitchFamily="34" charset="-120"/>
              </a:rPr>
              <a:t>6</a:t>
            </a:r>
            <a:endParaRPr lang="en-US" sz="1200" dirty="0"/>
          </a:p>
        </p:txBody>
      </p:sp>
      <p:sp>
        <p:nvSpPr>
          <p:cNvPr id="35" name="Text 33"/>
          <p:cNvSpPr/>
          <p:nvPr/>
        </p:nvSpPr>
        <p:spPr>
          <a:xfrm>
            <a:off x="8242300" y="3754041"/>
            <a:ext cx="939800" cy="2742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46%</a:t>
            </a:r>
            <a:endParaRPr lang="en-US" sz="1400" dirty="0"/>
          </a:p>
        </p:txBody>
      </p:sp>
      <p:sp>
        <p:nvSpPr>
          <p:cNvPr id="36" name="Text 34"/>
          <p:cNvSpPr/>
          <p:nvPr/>
        </p:nvSpPr>
        <p:spPr>
          <a:xfrm>
            <a:off x="812800" y="4223941"/>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Technology Upgrade</a:t>
            </a:r>
            <a:endParaRPr lang="en-US" sz="1400" dirty="0"/>
          </a:p>
        </p:txBody>
      </p:sp>
      <p:sp>
        <p:nvSpPr>
          <p:cNvPr id="37" name="Text 35"/>
          <p:cNvSpPr/>
          <p:nvPr/>
        </p:nvSpPr>
        <p:spPr>
          <a:xfrm>
            <a:off x="3098800" y="4170561"/>
            <a:ext cx="2400300" cy="355600"/>
          </a:xfrm>
          <a:prstGeom prst="rect">
            <a:avLst/>
          </a:prstGeom>
          <a:solidFill>
            <a:srgbClr val="1F7A7A"/>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Arial" pitchFamily="34" charset="0"/>
                <a:ea typeface="Arial" pitchFamily="34" charset="-122"/>
                <a:cs typeface="Arial" pitchFamily="34" charset="-120"/>
              </a:rPr>
              <a:t>27</a:t>
            </a:r>
            <a:endParaRPr lang="en-US" sz="1200" dirty="0"/>
          </a:p>
        </p:txBody>
      </p:sp>
      <p:sp>
        <p:nvSpPr>
          <p:cNvPr id="38" name="Text 36"/>
          <p:cNvSpPr/>
          <p:nvPr/>
        </p:nvSpPr>
        <p:spPr>
          <a:xfrm>
            <a:off x="5499100" y="4170561"/>
            <a:ext cx="800100" cy="355600"/>
          </a:xfrm>
          <a:prstGeom prst="rect">
            <a:avLst/>
          </a:prstGeom>
          <a:solidFill>
            <a:srgbClr val="E9A23B"/>
          </a:solidFill>
          <a:ln/>
        </p:spPr>
        <p:txBody>
          <a:bodyPr wrap="square" lIns="0" tIns="0" rIns="0" bIns="0" rtlCol="0" anchor="ctr">
            <a:normAutofit/>
          </a:bodyPr>
          <a:lstStyle/>
          <a:p>
            <a:pPr marL="0" indent="0" algn="ctr">
              <a:lnSpc>
                <a:spcPts val="1680"/>
              </a:lnSpc>
              <a:buNone/>
            </a:pPr>
            <a:r>
              <a:rPr lang="en-US" sz="1200" b="1" dirty="0">
                <a:solidFill>
                  <a:srgbClr val="14213D"/>
                </a:solidFill>
                <a:latin typeface="Arial" pitchFamily="34" charset="0"/>
                <a:ea typeface="Arial" pitchFamily="34" charset="-122"/>
                <a:cs typeface="Arial" pitchFamily="34" charset="-120"/>
              </a:rPr>
              <a:t>9</a:t>
            </a:r>
            <a:endParaRPr lang="en-US" sz="1200" dirty="0"/>
          </a:p>
        </p:txBody>
      </p:sp>
      <p:sp>
        <p:nvSpPr>
          <p:cNvPr id="39" name="Text 37"/>
          <p:cNvSpPr/>
          <p:nvPr/>
        </p:nvSpPr>
        <p:spPr>
          <a:xfrm>
            <a:off x="6299200" y="4170561"/>
            <a:ext cx="1155700" cy="355600"/>
          </a:xfrm>
          <a:prstGeom prst="rect">
            <a:avLst/>
          </a:prstGeom>
          <a:solidFill>
            <a:srgbClr val="A9BEC0"/>
          </a:solidFill>
          <a:ln/>
        </p:spPr>
        <p:txBody>
          <a:bodyPr wrap="square" lIns="0" tIns="0" rIns="0" bIns="0" rtlCol="0" anchor="ctr">
            <a:normAutofit/>
          </a:bodyPr>
          <a:lstStyle/>
          <a:p>
            <a:pPr marL="0" indent="0" algn="ctr">
              <a:lnSpc>
                <a:spcPts val="1680"/>
              </a:lnSpc>
              <a:buNone/>
            </a:pPr>
            <a:r>
              <a:rPr lang="en-US" sz="1200" b="1" dirty="0">
                <a:solidFill>
                  <a:srgbClr val="14213D"/>
                </a:solidFill>
                <a:latin typeface="Arial" pitchFamily="34" charset="0"/>
                <a:ea typeface="Arial" pitchFamily="34" charset="-122"/>
                <a:cs typeface="Arial" pitchFamily="34" charset="-120"/>
              </a:rPr>
              <a:t>13</a:t>
            </a:r>
            <a:endParaRPr lang="en-US" sz="1200" dirty="0"/>
          </a:p>
        </p:txBody>
      </p:sp>
      <p:sp>
        <p:nvSpPr>
          <p:cNvPr id="40" name="Text 38"/>
          <p:cNvSpPr/>
          <p:nvPr/>
        </p:nvSpPr>
        <p:spPr>
          <a:xfrm>
            <a:off x="7454900" y="4170561"/>
            <a:ext cx="977900" cy="355600"/>
          </a:xfrm>
          <a:prstGeom prst="rect">
            <a:avLst/>
          </a:prstGeom>
          <a:solidFill>
            <a:srgbClr val="14213D"/>
          </a:solidFill>
          <a:ln/>
        </p:spPr>
        <p:txBody>
          <a:bodyPr wrap="square" lIns="0" tIns="0" rIns="0" bIns="0" rtlCol="0" anchor="ctr">
            <a:normAutofit/>
          </a:bodyPr>
          <a:lstStyle/>
          <a:p>
            <a:pPr marL="0" indent="0" algn="ctr">
              <a:lnSpc>
                <a:spcPts val="1680"/>
              </a:lnSpc>
              <a:buNone/>
            </a:pPr>
            <a:r>
              <a:rPr lang="en-US" sz="1200" b="1" dirty="0">
                <a:solidFill>
                  <a:srgbClr val="F7F4EC"/>
                </a:solidFill>
                <a:latin typeface="Arial" pitchFamily="34" charset="0"/>
                <a:ea typeface="Arial" pitchFamily="34" charset="-122"/>
                <a:cs typeface="Arial" pitchFamily="34" charset="-120"/>
              </a:rPr>
              <a:t>11</a:t>
            </a:r>
            <a:endParaRPr lang="en-US" sz="1200" dirty="0"/>
          </a:p>
        </p:txBody>
      </p:sp>
      <p:sp>
        <p:nvSpPr>
          <p:cNvPr id="41" name="Text 39"/>
          <p:cNvSpPr/>
          <p:nvPr/>
        </p:nvSpPr>
        <p:spPr>
          <a:xfrm>
            <a:off x="8509000" y="4223941"/>
            <a:ext cx="939800" cy="2742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45%</a:t>
            </a:r>
            <a:endParaRPr lang="en-US" sz="1400" dirty="0"/>
          </a:p>
        </p:txBody>
      </p:sp>
      <p:sp>
        <p:nvSpPr>
          <p:cNvPr id="42" name="Text 40"/>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Arial" pitchFamily="34" charset="0"/>
                <a:ea typeface="Arial" pitchFamily="34" charset="-122"/>
                <a:cs typeface="Arial" pitchFamily="34" charset="-120"/>
              </a:rPr>
              <a:t>Source: MSME Business Performance Analysis workbook · right column = approval rate</a:t>
            </a:r>
            <a:endParaRPr lang="en-US" sz="1200" dirty="0"/>
          </a:p>
        </p:txBody>
      </p:sp>
      <p:sp>
        <p:nvSpPr>
          <p:cNvPr id="43" name="Text 4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7A"/>
                </a:solidFill>
                <a:latin typeface="Arial" pitchFamily="34" charset="0"/>
                <a:ea typeface="Arial" pitchFamily="34" charset="-122"/>
                <a:cs typeface="Arial" pitchFamily="34" charset="-120"/>
              </a:rPr>
              <a:t>GOVERNMENT SCHEMES</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Arial" pitchFamily="34" charset="0"/>
                <a:ea typeface="Arial" pitchFamily="34" charset="-122"/>
                <a:cs typeface="Arial" pitchFamily="34" charset="-120"/>
              </a:rPr>
              <a:t>Overall application outcomes</a:t>
            </a:r>
            <a:endParaRPr lang="en-US" sz="3200" dirty="0"/>
          </a:p>
        </p:txBody>
      </p:sp>
      <p:sp>
        <p:nvSpPr>
          <p:cNvPr id="4" name="Shape 2"/>
          <p:cNvSpPr/>
          <p:nvPr/>
        </p:nvSpPr>
        <p:spPr>
          <a:xfrm>
            <a:off x="815975" y="1928416"/>
            <a:ext cx="3384550" cy="2485132"/>
          </a:xfrm>
          <a:prstGeom prst="roundRect">
            <a:avLst>
              <a:gd name="adj" fmla="val 3961"/>
            </a:avLst>
          </a:prstGeom>
          <a:solidFill>
            <a:srgbClr val="FFFFFF"/>
          </a:solidFill>
          <a:ln w="6350">
            <a:solidFill>
              <a:srgbClr val="E3DED2"/>
            </a:solidFill>
            <a:prstDash val="solid"/>
          </a:ln>
        </p:spPr>
        <p:txBody>
          <a:bodyPr/>
          <a:lstStyle/>
          <a:p>
            <a:endParaRPr lang="en-IN"/>
          </a:p>
        </p:txBody>
      </p:sp>
      <p:sp>
        <p:nvSpPr>
          <p:cNvPr id="5" name="Text 3"/>
          <p:cNvSpPr/>
          <p:nvPr/>
        </p:nvSpPr>
        <p:spPr>
          <a:xfrm>
            <a:off x="1073150" y="2185591"/>
            <a:ext cx="2956306"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1F7A7A"/>
                </a:solidFill>
                <a:latin typeface="Arial" pitchFamily="34" charset="0"/>
                <a:ea typeface="Arial" pitchFamily="34" charset="-122"/>
                <a:cs typeface="Arial" pitchFamily="34" charset="-120"/>
              </a:rPr>
              <a:t>53%</a:t>
            </a:r>
            <a:endParaRPr lang="en-US" sz="6000" dirty="0"/>
          </a:p>
        </p:txBody>
      </p:sp>
      <p:sp>
        <p:nvSpPr>
          <p:cNvPr id="6" name="Text 4"/>
          <p:cNvSpPr/>
          <p:nvPr/>
        </p:nvSpPr>
        <p:spPr>
          <a:xfrm>
            <a:off x="1073150" y="3061891"/>
            <a:ext cx="295630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Arial" pitchFamily="34" charset="0"/>
                <a:ea typeface="Arial" pitchFamily="34" charset="-122"/>
                <a:cs typeface="Arial" pitchFamily="34" charset="-120"/>
              </a:rPr>
              <a:t>Approved</a:t>
            </a:r>
            <a:endParaRPr lang="en-US" sz="1600" dirty="0"/>
          </a:p>
        </p:txBody>
      </p:sp>
      <p:sp>
        <p:nvSpPr>
          <p:cNvPr id="7" name="Text 5"/>
          <p:cNvSpPr/>
          <p:nvPr/>
        </p:nvSpPr>
        <p:spPr>
          <a:xfrm>
            <a:off x="1073150" y="3422551"/>
            <a:ext cx="295630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159 applications, linked to ₹1,022 Cr of revenue.</a:t>
            </a:r>
            <a:endParaRPr lang="en-US" sz="1400" dirty="0"/>
          </a:p>
        </p:txBody>
      </p:sp>
      <p:sp>
        <p:nvSpPr>
          <p:cNvPr id="8" name="Shape 6"/>
          <p:cNvSpPr/>
          <p:nvPr/>
        </p:nvSpPr>
        <p:spPr>
          <a:xfrm>
            <a:off x="4406900" y="1925241"/>
            <a:ext cx="3378200" cy="2491482"/>
          </a:xfrm>
          <a:prstGeom prst="roundRect">
            <a:avLst>
              <a:gd name="adj" fmla="val 4078"/>
            </a:avLst>
          </a:prstGeom>
          <a:solidFill>
            <a:srgbClr val="14213D"/>
          </a:solidFill>
          <a:ln/>
        </p:spPr>
        <p:txBody>
          <a:bodyPr/>
          <a:lstStyle/>
          <a:p>
            <a:endParaRPr lang="en-IN"/>
          </a:p>
        </p:txBody>
      </p:sp>
      <p:sp>
        <p:nvSpPr>
          <p:cNvPr id="9" name="Text 7"/>
          <p:cNvSpPr/>
          <p:nvPr/>
        </p:nvSpPr>
        <p:spPr>
          <a:xfrm>
            <a:off x="4660900" y="2179241"/>
            <a:ext cx="2956306"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E9A23B"/>
                </a:solidFill>
                <a:latin typeface="Arial" pitchFamily="34" charset="0"/>
                <a:ea typeface="Arial" pitchFamily="34" charset="-122"/>
                <a:cs typeface="Arial" pitchFamily="34" charset="-120"/>
              </a:rPr>
              <a:t>33%</a:t>
            </a:r>
            <a:endParaRPr lang="en-US" sz="6000" dirty="0"/>
          </a:p>
        </p:txBody>
      </p:sp>
      <p:sp>
        <p:nvSpPr>
          <p:cNvPr id="10" name="Text 8"/>
          <p:cNvSpPr/>
          <p:nvPr/>
        </p:nvSpPr>
        <p:spPr>
          <a:xfrm>
            <a:off x="4660900" y="3055541"/>
            <a:ext cx="295630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7F4EC"/>
                </a:solidFill>
                <a:latin typeface="Arial" pitchFamily="34" charset="0"/>
                <a:ea typeface="Arial" pitchFamily="34" charset="-122"/>
                <a:cs typeface="Arial" pitchFamily="34" charset="-120"/>
              </a:rPr>
              <a:t>Undecided</a:t>
            </a:r>
            <a:endParaRPr lang="en-US" sz="1600" dirty="0"/>
          </a:p>
        </p:txBody>
      </p:sp>
      <p:sp>
        <p:nvSpPr>
          <p:cNvPr id="11" name="Text 9"/>
          <p:cNvSpPr/>
          <p:nvPr/>
        </p:nvSpPr>
        <p:spPr>
          <a:xfrm>
            <a:off x="4660900" y="3416201"/>
            <a:ext cx="2956306"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4EC"/>
                </a:solidFill>
                <a:latin typeface="Arial" pitchFamily="34" charset="0"/>
                <a:ea typeface="Arial" pitchFamily="34" charset="-122"/>
                <a:cs typeface="Arial" pitchFamily="34" charset="-120"/>
              </a:rPr>
              <a:t>100 applications (53 pending, 47 under review), linked to ₹602 Cr of revenue.</a:t>
            </a:r>
            <a:endParaRPr lang="en-US" sz="1400" dirty="0"/>
          </a:p>
        </p:txBody>
      </p:sp>
      <p:sp>
        <p:nvSpPr>
          <p:cNvPr id="12" name="Shape 10"/>
          <p:cNvSpPr/>
          <p:nvPr/>
        </p:nvSpPr>
        <p:spPr>
          <a:xfrm>
            <a:off x="7991475" y="1928416"/>
            <a:ext cx="3384550" cy="2485132"/>
          </a:xfrm>
          <a:prstGeom prst="roundRect">
            <a:avLst>
              <a:gd name="adj" fmla="val 3961"/>
            </a:avLst>
          </a:prstGeom>
          <a:solidFill>
            <a:srgbClr val="FFFFFF"/>
          </a:solidFill>
          <a:ln w="6350">
            <a:solidFill>
              <a:srgbClr val="E3DED2"/>
            </a:solidFill>
            <a:prstDash val="solid"/>
          </a:ln>
        </p:spPr>
        <p:txBody>
          <a:bodyPr/>
          <a:lstStyle/>
          <a:p>
            <a:endParaRPr lang="en-IN"/>
          </a:p>
        </p:txBody>
      </p:sp>
      <p:sp>
        <p:nvSpPr>
          <p:cNvPr id="13" name="Text 11"/>
          <p:cNvSpPr/>
          <p:nvPr/>
        </p:nvSpPr>
        <p:spPr>
          <a:xfrm>
            <a:off x="8248650" y="2185591"/>
            <a:ext cx="2956306"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14213D"/>
                </a:solidFill>
                <a:latin typeface="Arial" pitchFamily="34" charset="0"/>
                <a:ea typeface="Arial" pitchFamily="34" charset="-122"/>
                <a:cs typeface="Arial" pitchFamily="34" charset="-120"/>
              </a:rPr>
              <a:t>14%</a:t>
            </a:r>
            <a:endParaRPr lang="en-US" sz="6000" dirty="0"/>
          </a:p>
        </p:txBody>
      </p:sp>
      <p:sp>
        <p:nvSpPr>
          <p:cNvPr id="14" name="Text 12"/>
          <p:cNvSpPr/>
          <p:nvPr/>
        </p:nvSpPr>
        <p:spPr>
          <a:xfrm>
            <a:off x="8248650" y="3061891"/>
            <a:ext cx="295630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Arial" pitchFamily="34" charset="0"/>
                <a:ea typeface="Arial" pitchFamily="34" charset="-122"/>
                <a:cs typeface="Arial" pitchFamily="34" charset="-120"/>
              </a:rPr>
              <a:t>Rejected</a:t>
            </a:r>
            <a:endParaRPr lang="en-US" sz="1600" dirty="0"/>
          </a:p>
        </p:txBody>
      </p:sp>
      <p:sp>
        <p:nvSpPr>
          <p:cNvPr id="15" name="Text 13"/>
          <p:cNvSpPr/>
          <p:nvPr/>
        </p:nvSpPr>
        <p:spPr>
          <a:xfrm>
            <a:off x="8248650" y="3422551"/>
            <a:ext cx="295630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41 applications, linked to ₹219 Cr of revenue.</a:t>
            </a:r>
            <a:endParaRPr lang="en-US" sz="1400" dirty="0"/>
          </a:p>
        </p:txBody>
      </p:sp>
      <p:sp>
        <p:nvSpPr>
          <p:cNvPr id="16" name="Text 14"/>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Arial" pitchFamily="34" charset="0"/>
                <a:ea typeface="Arial" pitchFamily="34" charset="-122"/>
                <a:cs typeface="Arial" pitchFamily="34" charset="-120"/>
              </a:rPr>
              <a:t>Source: MSME Business Performance Analysis workbook · revenue is that of the applicant businesses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9A23B"/>
                </a:solidFill>
                <a:latin typeface="Arial" pitchFamily="34" charset="0"/>
                <a:ea typeface="Arial" pitchFamily="34" charset="-122"/>
                <a:cs typeface="Arial" pitchFamily="34" charset="-120"/>
              </a:rPr>
              <a:t>KEY FINDINGS</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7F4EC"/>
                </a:solidFill>
                <a:latin typeface="Arial" pitchFamily="34" charset="0"/>
                <a:ea typeface="Arial" pitchFamily="34" charset="-122"/>
                <a:cs typeface="Arial" pitchFamily="34" charset="-120"/>
              </a:rPr>
              <a:t>What the data shows</a:t>
            </a:r>
            <a:endParaRPr lang="en-US" sz="3200" dirty="0"/>
          </a:p>
        </p:txBody>
      </p:sp>
      <p:sp>
        <p:nvSpPr>
          <p:cNvPr id="4" name="Shape 2"/>
          <p:cNvSpPr/>
          <p:nvPr/>
        </p:nvSpPr>
        <p:spPr>
          <a:xfrm>
            <a:off x="815975" y="1928416"/>
            <a:ext cx="5175250" cy="1154311"/>
          </a:xfrm>
          <a:prstGeom prst="roundRect">
            <a:avLst>
              <a:gd name="adj" fmla="val 8527"/>
            </a:avLst>
          </a:prstGeom>
          <a:noFill/>
          <a:ln w="6350">
            <a:solidFill>
              <a:srgbClr val="3B4A6B"/>
            </a:solidFill>
            <a:prstDash val="solid"/>
          </a:ln>
        </p:spPr>
        <p:txBody>
          <a:bodyPr/>
          <a:lstStyle/>
          <a:p>
            <a:endParaRPr lang="en-IN"/>
          </a:p>
        </p:txBody>
      </p:sp>
      <p:sp>
        <p:nvSpPr>
          <p:cNvPr id="5" name="Text 3"/>
          <p:cNvSpPr/>
          <p:nvPr/>
        </p:nvSpPr>
        <p:spPr>
          <a:xfrm>
            <a:off x="1047750" y="2160191"/>
            <a:ext cx="4853051"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9A23B"/>
                </a:solidFill>
                <a:latin typeface="Arial" pitchFamily="34" charset="0"/>
                <a:ea typeface="Arial" pitchFamily="34" charset="-122"/>
                <a:cs typeface="Arial" pitchFamily="34" charset="-120"/>
              </a:rPr>
              <a:t>Healthy margins</a:t>
            </a:r>
            <a:endParaRPr lang="en-US" sz="2200" dirty="0"/>
          </a:p>
        </p:txBody>
      </p:sp>
      <p:sp>
        <p:nvSpPr>
          <p:cNvPr id="6" name="Text 4"/>
          <p:cNvSpPr/>
          <p:nvPr/>
        </p:nvSpPr>
        <p:spPr>
          <a:xfrm>
            <a:off x="1047750" y="2602111"/>
            <a:ext cx="485305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1E0"/>
                </a:solidFill>
                <a:latin typeface="Arial" pitchFamily="34" charset="0"/>
                <a:ea typeface="Arial" pitchFamily="34" charset="-122"/>
                <a:cs typeface="Arial" pitchFamily="34" charset="-120"/>
              </a:rPr>
              <a:t>27.8% overall, with Textiles highest at 34.5%.</a:t>
            </a:r>
            <a:endParaRPr lang="en-US" sz="1400" dirty="0"/>
          </a:p>
        </p:txBody>
      </p:sp>
      <p:sp>
        <p:nvSpPr>
          <p:cNvPr id="7" name="Shape 5"/>
          <p:cNvSpPr/>
          <p:nvPr/>
        </p:nvSpPr>
        <p:spPr>
          <a:xfrm>
            <a:off x="6200775" y="1928416"/>
            <a:ext cx="5175250" cy="1154311"/>
          </a:xfrm>
          <a:prstGeom prst="roundRect">
            <a:avLst>
              <a:gd name="adj" fmla="val 8527"/>
            </a:avLst>
          </a:prstGeom>
          <a:noFill/>
          <a:ln w="6350">
            <a:solidFill>
              <a:srgbClr val="3B4A6B"/>
            </a:solidFill>
            <a:prstDash val="solid"/>
          </a:ln>
        </p:spPr>
        <p:txBody>
          <a:bodyPr/>
          <a:lstStyle/>
          <a:p>
            <a:endParaRPr lang="en-IN"/>
          </a:p>
        </p:txBody>
      </p:sp>
      <p:sp>
        <p:nvSpPr>
          <p:cNvPr id="8" name="Text 6"/>
          <p:cNvSpPr/>
          <p:nvPr/>
        </p:nvSpPr>
        <p:spPr>
          <a:xfrm>
            <a:off x="6432550" y="2160191"/>
            <a:ext cx="4853051"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9A23B"/>
                </a:solidFill>
                <a:latin typeface="Arial" pitchFamily="34" charset="0"/>
                <a:ea typeface="Arial" pitchFamily="34" charset="-122"/>
                <a:cs typeface="Arial" pitchFamily="34" charset="-120"/>
              </a:rPr>
              <a:t>Concentrated revenue</a:t>
            </a:r>
            <a:endParaRPr lang="en-US" sz="2200" dirty="0"/>
          </a:p>
        </p:txBody>
      </p:sp>
      <p:sp>
        <p:nvSpPr>
          <p:cNvPr id="9" name="Text 7"/>
          <p:cNvSpPr/>
          <p:nvPr/>
        </p:nvSpPr>
        <p:spPr>
          <a:xfrm>
            <a:off x="6432550" y="2602111"/>
            <a:ext cx="485305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1E0"/>
                </a:solidFill>
                <a:latin typeface="Arial" pitchFamily="34" charset="0"/>
                <a:ea typeface="Arial" pitchFamily="34" charset="-122"/>
                <a:cs typeface="Arial" pitchFamily="34" charset="-120"/>
              </a:rPr>
              <a:t>Three industries give 47% and three states give 41%.</a:t>
            </a:r>
            <a:endParaRPr lang="en-US" sz="1400" dirty="0"/>
          </a:p>
        </p:txBody>
      </p:sp>
      <p:sp>
        <p:nvSpPr>
          <p:cNvPr id="10" name="Shape 8"/>
          <p:cNvSpPr/>
          <p:nvPr/>
        </p:nvSpPr>
        <p:spPr>
          <a:xfrm>
            <a:off x="815975" y="3292277"/>
            <a:ext cx="5175250" cy="1403152"/>
          </a:xfrm>
          <a:prstGeom prst="roundRect">
            <a:avLst>
              <a:gd name="adj" fmla="val 7015"/>
            </a:avLst>
          </a:prstGeom>
          <a:noFill/>
          <a:ln w="6350">
            <a:solidFill>
              <a:srgbClr val="3B4A6B"/>
            </a:solidFill>
            <a:prstDash val="solid"/>
          </a:ln>
        </p:spPr>
        <p:txBody>
          <a:bodyPr/>
          <a:lstStyle/>
          <a:p>
            <a:endParaRPr lang="en-IN"/>
          </a:p>
        </p:txBody>
      </p:sp>
      <p:sp>
        <p:nvSpPr>
          <p:cNvPr id="11" name="Text 9"/>
          <p:cNvSpPr/>
          <p:nvPr/>
        </p:nvSpPr>
        <p:spPr>
          <a:xfrm>
            <a:off x="1047750" y="3524052"/>
            <a:ext cx="4853051"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9A23B"/>
                </a:solidFill>
                <a:latin typeface="Arial" pitchFamily="34" charset="0"/>
                <a:ea typeface="Arial" pitchFamily="34" charset="-122"/>
                <a:cs typeface="Arial" pitchFamily="34" charset="-120"/>
              </a:rPr>
              <a:t>Uneven growth</a:t>
            </a:r>
            <a:endParaRPr lang="en-US" sz="2200" dirty="0"/>
          </a:p>
        </p:txBody>
      </p:sp>
      <p:sp>
        <p:nvSpPr>
          <p:cNvPr id="12" name="Text 10"/>
          <p:cNvSpPr/>
          <p:nvPr/>
        </p:nvSpPr>
        <p:spPr>
          <a:xfrm>
            <a:off x="1047750" y="3965972"/>
            <a:ext cx="485305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1E0"/>
                </a:solidFill>
                <a:latin typeface="Arial" pitchFamily="34" charset="0"/>
                <a:ea typeface="Arial" pitchFamily="34" charset="-122"/>
                <a:cs typeface="Arial" pitchFamily="34" charset="-120"/>
              </a:rPr>
              <a:t>Uttar Pradesh grows 20.9% a year, Odisha only 6.1%. 69 businesses (23%) shrank year on year.</a:t>
            </a:r>
            <a:endParaRPr lang="en-US" sz="1400" dirty="0"/>
          </a:p>
        </p:txBody>
      </p:sp>
      <p:sp>
        <p:nvSpPr>
          <p:cNvPr id="13" name="Shape 11"/>
          <p:cNvSpPr/>
          <p:nvPr/>
        </p:nvSpPr>
        <p:spPr>
          <a:xfrm>
            <a:off x="6200775" y="3292277"/>
            <a:ext cx="5175250" cy="1403152"/>
          </a:xfrm>
          <a:prstGeom prst="roundRect">
            <a:avLst>
              <a:gd name="adj" fmla="val 7015"/>
            </a:avLst>
          </a:prstGeom>
          <a:noFill/>
          <a:ln w="6350">
            <a:solidFill>
              <a:srgbClr val="3B4A6B"/>
            </a:solidFill>
            <a:prstDash val="solid"/>
          </a:ln>
        </p:spPr>
        <p:txBody>
          <a:bodyPr/>
          <a:lstStyle/>
          <a:p>
            <a:endParaRPr lang="en-IN"/>
          </a:p>
        </p:txBody>
      </p:sp>
      <p:sp>
        <p:nvSpPr>
          <p:cNvPr id="14" name="Text 12"/>
          <p:cNvSpPr/>
          <p:nvPr/>
        </p:nvSpPr>
        <p:spPr>
          <a:xfrm>
            <a:off x="6432550" y="3524052"/>
            <a:ext cx="4853051"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9A23B"/>
                </a:solidFill>
                <a:latin typeface="Arial" pitchFamily="34" charset="0"/>
                <a:ea typeface="Arial" pitchFamily="34" charset="-122"/>
                <a:cs typeface="Arial" pitchFamily="34" charset="-120"/>
              </a:rPr>
              <a:t>Scheme bottleneck</a:t>
            </a:r>
            <a:endParaRPr lang="en-US" sz="2200" dirty="0"/>
          </a:p>
        </p:txBody>
      </p:sp>
      <p:sp>
        <p:nvSpPr>
          <p:cNvPr id="15" name="Text 13"/>
          <p:cNvSpPr/>
          <p:nvPr/>
        </p:nvSpPr>
        <p:spPr>
          <a:xfrm>
            <a:off x="6432550" y="3965972"/>
            <a:ext cx="485305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1E0"/>
                </a:solidFill>
                <a:latin typeface="Arial" pitchFamily="34" charset="0"/>
                <a:ea typeface="Arial" pitchFamily="34" charset="-122"/>
                <a:cs typeface="Arial" pitchFamily="34" charset="-120"/>
              </a:rPr>
              <a:t>Only 53% of applications are approved and 33% are still undecided.</a:t>
            </a:r>
            <a:endParaRPr lang="en-US" sz="1400" dirty="0"/>
          </a:p>
        </p:txBody>
      </p:sp>
      <p:sp>
        <p:nvSpPr>
          <p:cNvPr id="16" name="Text 14"/>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AAC2"/>
                </a:solidFill>
                <a:latin typeface="Arial" pitchFamily="34" charset="0"/>
                <a:ea typeface="Arial" pitchFamily="34" charset="-122"/>
                <a:cs typeface="Arial" pitchFamily="34" charset="-120"/>
              </a:rPr>
              <a:t>Source: MSME Business Performance Analysis workbook</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AAC2"/>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7A7A"/>
                </a:solidFill>
                <a:latin typeface="Arial" pitchFamily="34" charset="0"/>
                <a:ea typeface="Arial" pitchFamily="34" charset="-122"/>
                <a:cs typeface="Arial" pitchFamily="34" charset="-120"/>
              </a:rPr>
              <a:t>RECOMMENDATIONS</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Arial" pitchFamily="34" charset="0"/>
                <a:ea typeface="Arial" pitchFamily="34" charset="-122"/>
                <a:cs typeface="Arial" pitchFamily="34" charset="-120"/>
              </a:rPr>
              <a:t>Suggested next steps</a:t>
            </a:r>
            <a:endParaRPr lang="en-US" sz="3200" dirty="0"/>
          </a:p>
        </p:txBody>
      </p:sp>
      <p:sp>
        <p:nvSpPr>
          <p:cNvPr id="4" name="Shape 2"/>
          <p:cNvSpPr/>
          <p:nvPr/>
        </p:nvSpPr>
        <p:spPr>
          <a:xfrm>
            <a:off x="815975" y="1877616"/>
            <a:ext cx="10560050" cy="753070"/>
          </a:xfrm>
          <a:prstGeom prst="roundRect">
            <a:avLst>
              <a:gd name="adj" fmla="val 13070"/>
            </a:avLst>
          </a:prstGeom>
          <a:solidFill>
            <a:srgbClr val="FFFFFF"/>
          </a:solidFill>
          <a:ln w="6350">
            <a:solidFill>
              <a:srgbClr val="E3DED2"/>
            </a:solidFill>
            <a:prstDash val="solid"/>
          </a:ln>
        </p:spPr>
        <p:txBody>
          <a:bodyPr/>
          <a:lstStyle/>
          <a:p>
            <a:endParaRPr lang="en-IN"/>
          </a:p>
        </p:txBody>
      </p:sp>
      <p:sp>
        <p:nvSpPr>
          <p:cNvPr id="5" name="Text 3"/>
          <p:cNvSpPr/>
          <p:nvPr/>
        </p:nvSpPr>
        <p:spPr>
          <a:xfrm>
            <a:off x="1047750" y="2058591"/>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9A23B"/>
                </a:solidFill>
                <a:latin typeface="Arial" pitchFamily="34" charset="0"/>
                <a:ea typeface="Arial" pitchFamily="34" charset="-122"/>
                <a:cs typeface="Arial" pitchFamily="34" charset="-120"/>
              </a:rPr>
              <a:t>1</a:t>
            </a:r>
            <a:endParaRPr lang="en-US" sz="2200" dirty="0"/>
          </a:p>
        </p:txBody>
      </p:sp>
      <p:sp>
        <p:nvSpPr>
          <p:cNvPr id="6" name="Text 4"/>
          <p:cNvSpPr/>
          <p:nvPr/>
        </p:nvSpPr>
        <p:spPr>
          <a:xfrm>
            <a:off x="1555750" y="2111871"/>
            <a:ext cx="98171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Arial" pitchFamily="34" charset="0"/>
                <a:ea typeface="Arial" pitchFamily="34" charset="-122"/>
                <a:cs typeface="Arial" pitchFamily="34" charset="-120"/>
              </a:rPr>
              <a:t>Clear the backlog.</a:t>
            </a:r>
            <a:r>
              <a:rPr lang="en-US" sz="1600" dirty="0">
                <a:solidFill>
                  <a:srgbClr val="14213D"/>
                </a:solidFill>
                <a:latin typeface="Arial" pitchFamily="34" charset="0"/>
                <a:ea typeface="Arial" pitchFamily="34" charset="-122"/>
                <a:cs typeface="Arial" pitchFamily="34" charset="-120"/>
              </a:rPr>
              <a:t> Set a decision deadline for the 100 pending and under-review applications.</a:t>
            </a:r>
            <a:endParaRPr lang="en-US" sz="1600" dirty="0"/>
          </a:p>
        </p:txBody>
      </p:sp>
      <p:sp>
        <p:nvSpPr>
          <p:cNvPr id="7" name="Shape 5"/>
          <p:cNvSpPr/>
          <p:nvPr/>
        </p:nvSpPr>
        <p:spPr>
          <a:xfrm>
            <a:off x="815975" y="2764036"/>
            <a:ext cx="10560050" cy="930870"/>
          </a:xfrm>
          <a:prstGeom prst="roundRect">
            <a:avLst>
              <a:gd name="adj" fmla="val 10573"/>
            </a:avLst>
          </a:prstGeom>
          <a:solidFill>
            <a:srgbClr val="FFFFFF"/>
          </a:solidFill>
          <a:ln w="6350">
            <a:solidFill>
              <a:srgbClr val="E3DED2"/>
            </a:solidFill>
            <a:prstDash val="solid"/>
          </a:ln>
        </p:spPr>
        <p:txBody>
          <a:bodyPr/>
          <a:lstStyle/>
          <a:p>
            <a:endParaRPr lang="en-IN"/>
          </a:p>
        </p:txBody>
      </p:sp>
      <p:sp>
        <p:nvSpPr>
          <p:cNvPr id="8" name="Text 6"/>
          <p:cNvSpPr/>
          <p:nvPr/>
        </p:nvSpPr>
        <p:spPr>
          <a:xfrm>
            <a:off x="1047750" y="3033911"/>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9A23B"/>
                </a:solidFill>
                <a:latin typeface="Arial" pitchFamily="34" charset="0"/>
                <a:ea typeface="Arial" pitchFamily="34" charset="-122"/>
                <a:cs typeface="Arial" pitchFamily="34" charset="-120"/>
              </a:rPr>
              <a:t>2</a:t>
            </a:r>
            <a:endParaRPr lang="en-US" sz="2200" dirty="0"/>
          </a:p>
        </p:txBody>
      </p:sp>
      <p:sp>
        <p:nvSpPr>
          <p:cNvPr id="9" name="Text 7"/>
          <p:cNvSpPr/>
          <p:nvPr/>
        </p:nvSpPr>
        <p:spPr>
          <a:xfrm>
            <a:off x="1555750" y="2945011"/>
            <a:ext cx="9876155"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Arial" pitchFamily="34" charset="0"/>
                <a:ea typeface="Arial" pitchFamily="34" charset="-122"/>
                <a:cs typeface="Arial" pitchFamily="34" charset="-120"/>
              </a:rPr>
              <a:t>Review rejections.</a:t>
            </a:r>
            <a:r>
              <a:rPr lang="en-US" sz="1600" dirty="0">
                <a:solidFill>
                  <a:srgbClr val="14213D"/>
                </a:solidFill>
                <a:latin typeface="Arial" pitchFamily="34" charset="0"/>
                <a:ea typeface="Arial" pitchFamily="34" charset="-122"/>
                <a:cs typeface="Arial" pitchFamily="34" charset="-120"/>
              </a:rPr>
              <a:t> Technology Upgrade Grant has the lowest approval rate (45%) and most rejections (11).</a:t>
            </a:r>
            <a:endParaRPr lang="en-US" sz="1600" dirty="0"/>
          </a:p>
        </p:txBody>
      </p:sp>
      <p:sp>
        <p:nvSpPr>
          <p:cNvPr id="10" name="Shape 8"/>
          <p:cNvSpPr/>
          <p:nvPr/>
        </p:nvSpPr>
        <p:spPr>
          <a:xfrm>
            <a:off x="815975" y="3828256"/>
            <a:ext cx="10560050" cy="753070"/>
          </a:xfrm>
          <a:prstGeom prst="roundRect">
            <a:avLst>
              <a:gd name="adj" fmla="val 13070"/>
            </a:avLst>
          </a:prstGeom>
          <a:solidFill>
            <a:srgbClr val="FFFFFF"/>
          </a:solidFill>
          <a:ln w="6350">
            <a:solidFill>
              <a:srgbClr val="E3DED2"/>
            </a:solidFill>
            <a:prstDash val="solid"/>
          </a:ln>
        </p:spPr>
        <p:txBody>
          <a:bodyPr/>
          <a:lstStyle/>
          <a:p>
            <a:endParaRPr lang="en-IN"/>
          </a:p>
        </p:txBody>
      </p:sp>
      <p:sp>
        <p:nvSpPr>
          <p:cNvPr id="11" name="Text 9"/>
          <p:cNvSpPr/>
          <p:nvPr/>
        </p:nvSpPr>
        <p:spPr>
          <a:xfrm>
            <a:off x="1047750" y="4009231"/>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9A23B"/>
                </a:solidFill>
                <a:latin typeface="Arial" pitchFamily="34" charset="0"/>
                <a:ea typeface="Arial" pitchFamily="34" charset="-122"/>
                <a:cs typeface="Arial" pitchFamily="34" charset="-120"/>
              </a:rPr>
              <a:t>3</a:t>
            </a:r>
            <a:endParaRPr lang="en-US" sz="2200" dirty="0"/>
          </a:p>
        </p:txBody>
      </p:sp>
      <p:sp>
        <p:nvSpPr>
          <p:cNvPr id="12" name="Text 10"/>
          <p:cNvSpPr/>
          <p:nvPr/>
        </p:nvSpPr>
        <p:spPr>
          <a:xfrm>
            <a:off x="1555750" y="4062512"/>
            <a:ext cx="98171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Arial" pitchFamily="34" charset="0"/>
                <a:ea typeface="Arial" pitchFamily="34" charset="-122"/>
                <a:cs typeface="Arial" pitchFamily="34" charset="-120"/>
              </a:rPr>
              <a:t>Support slow growers.</a:t>
            </a:r>
            <a:r>
              <a:rPr lang="en-US" sz="1600" dirty="0">
                <a:solidFill>
                  <a:srgbClr val="14213D"/>
                </a:solidFill>
                <a:latin typeface="Arial" pitchFamily="34" charset="0"/>
                <a:ea typeface="Arial" pitchFamily="34" charset="-122"/>
                <a:cs typeface="Arial" pitchFamily="34" charset="-120"/>
              </a:rPr>
              <a:t> Look at what Uttar Pradesh and Gujarat do well, and target Odisha and Textiles.</a:t>
            </a:r>
            <a:endParaRPr lang="en-US" sz="1600" dirty="0"/>
          </a:p>
        </p:txBody>
      </p:sp>
      <p:sp>
        <p:nvSpPr>
          <p:cNvPr id="13" name="Shape 11"/>
          <p:cNvSpPr/>
          <p:nvPr/>
        </p:nvSpPr>
        <p:spPr>
          <a:xfrm>
            <a:off x="815975" y="4714677"/>
            <a:ext cx="10560050" cy="753070"/>
          </a:xfrm>
          <a:prstGeom prst="roundRect">
            <a:avLst>
              <a:gd name="adj" fmla="val 13070"/>
            </a:avLst>
          </a:prstGeom>
          <a:solidFill>
            <a:srgbClr val="FFFFFF"/>
          </a:solidFill>
          <a:ln w="6350">
            <a:solidFill>
              <a:srgbClr val="E3DED2"/>
            </a:solidFill>
            <a:prstDash val="solid"/>
          </a:ln>
        </p:spPr>
        <p:txBody>
          <a:bodyPr/>
          <a:lstStyle/>
          <a:p>
            <a:endParaRPr lang="en-IN"/>
          </a:p>
        </p:txBody>
      </p:sp>
      <p:sp>
        <p:nvSpPr>
          <p:cNvPr id="14" name="Text 12"/>
          <p:cNvSpPr/>
          <p:nvPr/>
        </p:nvSpPr>
        <p:spPr>
          <a:xfrm>
            <a:off x="1047750" y="4895652"/>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9A23B"/>
                </a:solidFill>
                <a:latin typeface="Arial" pitchFamily="34" charset="0"/>
                <a:ea typeface="Arial" pitchFamily="34" charset="-122"/>
                <a:cs typeface="Arial" pitchFamily="34" charset="-120"/>
              </a:rPr>
              <a:t>4</a:t>
            </a:r>
            <a:endParaRPr lang="en-US" sz="2200" dirty="0"/>
          </a:p>
        </p:txBody>
      </p:sp>
      <p:sp>
        <p:nvSpPr>
          <p:cNvPr id="15" name="Text 13"/>
          <p:cNvSpPr/>
          <p:nvPr/>
        </p:nvSpPr>
        <p:spPr>
          <a:xfrm>
            <a:off x="1555750" y="4948932"/>
            <a:ext cx="9812655"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Arial" pitchFamily="34" charset="0"/>
                <a:ea typeface="Arial" pitchFamily="34" charset="-122"/>
                <a:cs typeface="Arial" pitchFamily="34" charset="-120"/>
              </a:rPr>
              <a:t>Watch at-risk firms.</a:t>
            </a:r>
            <a:r>
              <a:rPr lang="en-US" sz="1600" dirty="0">
                <a:solidFill>
                  <a:srgbClr val="14213D"/>
                </a:solidFill>
                <a:latin typeface="Arial" pitchFamily="34" charset="0"/>
                <a:ea typeface="Arial" pitchFamily="34" charset="-122"/>
                <a:cs typeface="Arial" pitchFamily="34" charset="-120"/>
              </a:rPr>
              <a:t> Track the 69 businesses with negative growth and offer early support.</a:t>
            </a:r>
            <a:endParaRPr lang="en-US" sz="1600" dirty="0"/>
          </a:p>
        </p:txBody>
      </p:sp>
      <p:sp>
        <p:nvSpPr>
          <p:cNvPr id="16" name="Text 14"/>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Arial" pitchFamily="34" charset="0"/>
                <a:ea typeface="Arial" pitchFamily="34" charset="-122"/>
                <a:cs typeface="Arial" pitchFamily="34" charset="-120"/>
              </a:rPr>
              <a:t>Source: MSME Business Performance Analysis workbook</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12800" y="2589510"/>
            <a:ext cx="762000" cy="50800"/>
          </a:xfrm>
          <a:prstGeom prst="rect">
            <a:avLst/>
          </a:prstGeom>
          <a:solidFill>
            <a:srgbClr val="E9A23B"/>
          </a:solidFill>
          <a:ln/>
        </p:spPr>
        <p:txBody>
          <a:bodyPr/>
          <a:lstStyle/>
          <a:p>
            <a:endParaRPr lang="en-IN"/>
          </a:p>
        </p:txBody>
      </p:sp>
      <p:sp>
        <p:nvSpPr>
          <p:cNvPr id="3" name="Text 1"/>
          <p:cNvSpPr>
            <a:spLocks noGrp="1"/>
          </p:cNvSpPr>
          <p:nvPr>
            <p:ph type="title"/>
          </p:nvPr>
        </p:nvSpPr>
        <p:spPr>
          <a:xfrm>
            <a:off x="812800" y="289431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4EC"/>
                </a:solidFill>
                <a:latin typeface="Arial" pitchFamily="34" charset="0"/>
                <a:ea typeface="Arial" pitchFamily="34" charset="-122"/>
                <a:cs typeface="Arial" pitchFamily="34" charset="-120"/>
              </a:rPr>
              <a:t>Thank you</a:t>
            </a:r>
            <a:endParaRPr lang="en-US" sz="6000" dirty="0"/>
          </a:p>
        </p:txBody>
      </p:sp>
      <p:sp>
        <p:nvSpPr>
          <p:cNvPr id="4" name="Text 2"/>
          <p:cNvSpPr/>
          <p:nvPr/>
        </p:nvSpPr>
        <p:spPr>
          <a:xfrm>
            <a:off x="812800" y="394841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1E0"/>
                </a:solidFill>
                <a:latin typeface="Arial" pitchFamily="34" charset="0"/>
                <a:ea typeface="Arial" pitchFamily="34" charset="-122"/>
                <a:cs typeface="Arial" pitchFamily="34" charset="-120"/>
              </a:rPr>
              <a:t>Questions and discussion</a:t>
            </a:r>
            <a:endParaRPr lang="en-US" sz="1800" dirty="0"/>
          </a:p>
        </p:txBody>
      </p:sp>
    </p:spTree>
  </p:cSld>
  <p:clrMapOvr>
    <a:masterClrMapping/>
  </p:clrMapOvr>
</p:sld>
</file>

<file path=ppt/theme/theme1.xml><?xml version="1.0" encoding="utf-8"?>
<a:theme xmlns:a="http://schemas.openxmlformats.org/drawingml/2006/main" name="MSME Business Performance Analysis">
  <a:themeElements>
    <a:clrScheme name="MSME Business Performance Analysis">
      <a:dk1>
        <a:srgbClr val="14213D"/>
      </a:dk1>
      <a:lt1>
        <a:srgbClr val="F7F4EC"/>
      </a:lt1>
      <a:dk2>
        <a:srgbClr val="4D5669"/>
      </a:dk2>
      <a:lt2>
        <a:srgbClr val="E0DFDB"/>
      </a:lt2>
      <a:accent1>
        <a:srgbClr val="E9A23B"/>
      </a:accent1>
      <a:accent2>
        <a:srgbClr val="1F7A7A"/>
      </a:accent2>
      <a:accent3>
        <a:srgbClr val="5B6472"/>
      </a:accent3>
      <a:accent4>
        <a:srgbClr val="A9BEC0"/>
      </a:accent4>
      <a:accent5>
        <a:srgbClr val="4A5568"/>
      </a:accent5>
      <a:accent6>
        <a:srgbClr val="C9D1E0"/>
      </a:accent6>
      <a:hlink>
        <a:srgbClr val="0563C1"/>
      </a:hlink>
      <a:folHlink>
        <a:srgbClr val="954F72"/>
      </a:folHlink>
    </a:clrScheme>
    <a:fontScheme name="MSME Business Performance Analys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1259</Words>
  <Application>Microsoft Office PowerPoint</Application>
  <PresentationFormat>Widescreen</PresentationFormat>
  <Paragraphs>303</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MSME Business Performance Analysis</vt:lpstr>
      <vt:lpstr>MSME Business Performance Analysis</vt:lpstr>
      <vt:lpstr>Objective, data and output</vt:lpstr>
      <vt:lpstr>From raw data to dashboard</vt:lpstr>
      <vt:lpstr>Key performance indicators</vt:lpstr>
      <vt:lpstr>Revenue by industry (₹ Cr)</vt:lpstr>
      <vt:lpstr>Profitability and growth by industry</vt:lpstr>
      <vt:lpstr>Revenue by state (₹ Cr)</vt:lpstr>
      <vt:lpstr>Growth and margin by state</vt:lpstr>
      <vt:lpstr>Application status by scheme</vt:lpstr>
      <vt:lpstr>Overall application outcomes</vt:lpstr>
      <vt:lpstr>What the data shows</vt:lpstr>
      <vt:lpstr>Suggested 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MSME Business Performance Analysis</dc:title>
  <dc:subject/>
  <dc:creator>SOURAV</dc:creator>
  <cp:lastModifiedBy>Sourav Patra</cp:lastModifiedBy>
  <cp:revision>2</cp:revision>
  <dcterms:created xsi:type="dcterms:W3CDTF">2026-10-22T17:36:29Z</dcterms:created>
  <dcterms:modified xsi:type="dcterms:W3CDTF">2026-10-24T05:07:20Z</dcterms:modified>
</cp:coreProperties>
</file>